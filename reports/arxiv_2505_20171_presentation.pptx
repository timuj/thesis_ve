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828800"/>
            <a:ext cx="3657600" cy="508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Long-Context State-Space</a:t>
            </a:r>
            <a:br/>
            <a:r>
              <a:t>Video World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Ryan Po, Yotam Nitzan, Richard Zhang, Berlin Chen, Tri Dao,</a:t>
            </a:r>
            <a:br/>
            <a:r>
              <a:t>Eli Shechtman, Gordon Wetzstein, Xun Huang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EC9B0"/>
                </a:solidFill>
                <a:latin typeface="Calibri"/>
              </a:defRPr>
            </a:pPr>
            <a:r>
              <a:t>Stanford University  |  Princeton University  |  Adobe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arXiv 2505.20171  |  CVPR 2025 area  |  cs.CV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EC9B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Problem: Video World Models Forget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143000"/>
            <a:ext cx="2743200" cy="381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Video diffusion models generate frames autoregressively via sliding-window attention</a:t>
            </a:r>
          </a:p>
          <a:p>
            <a:pPr>
              <a:spcAft>
                <a:spcPts val="8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Sliding window = limited context = NO long-term memory</a:t>
            </a:r>
          </a:p>
          <a:p>
            <a:pPr>
              <a:spcAft>
                <a:spcPts val="8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Result: environment completely changes when agent looks away and back</a:t>
            </a:r>
          </a:p>
          <a:p>
            <a:pPr>
              <a:spcAft>
                <a:spcPts val="8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Example: in a game, looking right then left → entire scene regenerated differently</a:t>
            </a:r>
          </a:p>
          <a:p>
            <a:pPr>
              <a:spcAft>
                <a:spcPts val="800"/>
              </a:spcAft>
              <a:defRPr sz="20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Why can't we just extend the attention window?</a:t>
            </a:r>
          </a:p>
          <a:p>
            <a:pPr>
              <a:spcAft>
                <a:spcPts val="8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  (1) Training cost scales QUADRATICALLY with context length</a:t>
            </a:r>
          </a:p>
          <a:p>
            <a:pPr>
              <a:spcAft>
                <a:spcPts val="8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  (2) Per-frame inference time grows LINEARLY — too slow for real-time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EC9B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Innovation: SSMs for Causal World State Tracking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143000"/>
            <a:ext cx="2743200" cy="381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Replace attention's temporal modeling with State-Space Models (SSMs / Mamba)</a:t>
            </a:r>
          </a:p>
          <a:p>
            <a:pPr>
              <a:spcAft>
                <a:spcPts val="800"/>
              </a:spcAft>
              <a:defRPr sz="20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Why SSMs?</a:t>
            </a:r>
          </a:p>
          <a:p>
            <a:pPr>
              <a:spcAft>
                <a:spcPts val="8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  • Causal by nature — perfect for autoregressive frame generation</a:t>
            </a:r>
          </a:p>
          <a:p>
            <a:pPr>
              <a:spcAft>
                <a:spcPts val="8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  • Fixed-size hidden state compresses entire history → O(1) memory at inference</a:t>
            </a:r>
          </a:p>
          <a:p>
            <a:pPr>
              <a:spcAft>
                <a:spcPts val="8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  • Linear training complexity vs. quadratic for transformers</a:t>
            </a:r>
          </a:p>
          <a:p>
            <a:pPr>
              <a:spcAft>
                <a:spcPts val="800"/>
              </a:spcAft>
              <a:defRPr sz="20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Critical insight: previous SSM-for-vision works use BIDIRECTIONAL scans</a:t>
            </a:r>
          </a:p>
          <a:p>
            <a:pPr>
              <a:spcAft>
                <a:spcPts val="8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  → breaks causality, can't do efficient AR inference</a:t>
            </a:r>
          </a:p>
          <a:p>
            <a:pPr>
              <a:spcAft>
                <a:spcPts val="8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This paper: UNIDIRECTIONAL SSM for temporal dynamics — exploits SSMs' true strength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Rectangle 29"/>
          <p:cNvSpPr/>
          <p:nvPr/>
        </p:nvSpPr>
        <p:spPr>
          <a:xfrm>
            <a:off x="1188720" y="-41802070320"/>
            <a:ext cx="10058400" cy="502920"/>
          </a:xfrm>
          <a:prstGeom prst="rect">
            <a:avLst/>
          </a:prstGeom>
          <a:solidFill>
            <a:srgbClr val="2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731520" y="5486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EC9B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Complexity Comparison: Why This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143000"/>
            <a:ext cx="2743200" cy="381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EC9B0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6459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EC9B0"/>
                </a:solidFill>
                <a:latin typeface="Calibri"/>
              </a:defRPr>
            </a:pPr>
            <a:r>
              <a:t>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6459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EC9B0"/>
                </a:solidFill>
                <a:latin typeface="Calibri"/>
              </a:defRPr>
            </a:pPr>
            <a:r>
              <a:t>AR Inference</a:t>
            </a:r>
            <a:br/>
            <a:r>
              <a:t>(total)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6459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EC9B0"/>
                </a:solidFill>
                <a:latin typeface="Calibri"/>
              </a:defRPr>
            </a:pPr>
            <a:r>
              <a:t>AR Inference</a:t>
            </a:r>
            <a:br/>
            <a:r>
              <a:t>(per frame)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6459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EC9B0"/>
                </a:solidFill>
                <a:latin typeface="Calibri"/>
              </a:defRPr>
            </a:pPr>
            <a:r>
              <a:t>Long</a:t>
            </a:r>
            <a:br/>
            <a:r>
              <a:t>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377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Bidirectional Attention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377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Quadratic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377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Cubic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377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Quadratic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377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017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Causal Attention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Quadratic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Quadratic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Linear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30175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Causal + Sliding Window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657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Sub-quadratic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657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Linear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657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Constant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3657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86B6B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29767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EC9B0"/>
                </a:solidFill>
                <a:latin typeface="Calibri"/>
              </a:defRPr>
            </a:pPr>
            <a:r>
              <a:t>Ours (SSM + Local Attn)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29767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EC9B0"/>
                </a:solidFill>
                <a:latin typeface="Calibri"/>
              </a:defRPr>
            </a:pPr>
            <a:r>
              <a:t>Linear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429767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EC9B0"/>
                </a:solidFill>
                <a:latin typeface="Calibri"/>
              </a:defRPr>
            </a:pPr>
            <a:r>
              <a:t>Linear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29767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EC9B0"/>
                </a:solidFill>
                <a:latin typeface="Calibri"/>
              </a:defRPr>
            </a:pPr>
            <a:r>
              <a:t>Constant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429767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BE86B"/>
                </a:solidFill>
                <a:latin typeface="Calibri"/>
              </a:defRPr>
            </a:pPr>
            <a:r>
              <a:t>Yes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EC9B0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Architecture: Two Core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143000"/>
            <a:ext cx="2743200" cy="381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5029200" cy="438912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EC9B0"/>
                </a:solidFill>
                <a:latin typeface="Calibri"/>
              </a:defRPr>
            </a:pPr>
            <a:r>
              <a:t>1. Block-wise SSM Scan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7744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Divide spatial dims into blocks of (bh, bw, T)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Each block gets its OWN independent Mamba scan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Temporal tokens now separated by bh×bw (not H×W)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→ Much closer temporal neighbors for SSM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Trade-off controlled by block size: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  Small blocks → better temporal memory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  Large blocks → better spatial coherence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  Solution: vary (bh, bw) across layers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Bonus: effectively increases SSM state dim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(each block has separate state → more capacity)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029200" cy="438912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6C9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C9BD2"/>
                </a:solidFill>
                <a:latin typeface="Calibri"/>
              </a:defRPr>
            </a:pPr>
            <a:r>
              <a:t>2. Frame Local Attention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After every Mamba layer → local attention block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Block-wise causal attention over k previous frames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Attention mask: M[i,j] = 1 if j ∈ [i-k, i]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Bidirectional WITHIN frames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Causal ACROSS frames (window of k)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Why needed?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  Mamba struggles with associative recall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  Local attention fixes frame-wise quality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  Fixes short-term temporal consistency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Result: hybrid SSM+Attention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EC9B0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Block-wise SSM Scan: The Core Technical Detail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143000"/>
            <a:ext cx="2743200" cy="381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9601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Standard approach: flatten all spatiotemporal tokens → single scan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  Spatial-major ordering: (h1,w1,t1), (h1,w2,t1), ... (hH,wW,t1), (h1,w1,t2), ...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  Problem: temporal neighbors are H×W tokens apart in scan order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  → SSM "forgets" temporal info across such large gaps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This paper's approach: divide (H, W) into blocks of (bh, bw)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  Each block scanned independently: (b_h1, b_w1, t1), (b_h1, b_w2, t1), ..., (b_h, b_w, tT)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  Now temporal gap = bh × bw  (e.g., 2×2 = 4 tokens, not 16×16 = 256)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Layer-dependent block sizes: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  Early layers: smaller blocks → prioritize temporal memory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  Later layers: larger blocks → prioritize spatial coherence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  This multi-scale design is key to the method working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SSM state dimensionality scales with number of blocks: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  Total state = (H/bh × W/bw) × state_dim_per_block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  → Smaller blocks = more blocks = more total state capacity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EC9B0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Training Innovation: Forcing Long-Range Dependencies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143000"/>
            <a:ext cx="2743200" cy="381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6B6B"/>
                </a:solidFill>
                <a:latin typeface="Calibri"/>
              </a:defRPr>
            </a:pPr>
            <a:r>
              <a:t>Standard Diffusion Forcing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Independent noise levels per frame: ti ~ U(0, T)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ALL frames get noise during training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Model learns to denoise each frame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Problem: nearby noisy frames are still more useful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than distant noisy frames → model ignores distant context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→ Trapped in LOCAL MINIMUM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→ Never learns long-term dependencies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BE86B"/>
                </a:solidFill>
                <a:latin typeface="Calibri"/>
              </a:defRPr>
            </a:pPr>
            <a:r>
              <a:t>Their Training Scheme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Keep a random-length PREFIX completely clean (ti = 0)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Add independent noise only to LATER frames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Compute loss only on noised frames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Why this works: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When later frames have HIGH noise, the clean prefix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is MORE informative than noisy local neighbors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→ Forces model to attend to distant clean context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→ Learns long-range temporal correlations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Mixed with standard diffusion forcing during training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EC9B0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Efficient Inference: Constant Cost per Frame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143000"/>
            <a:ext cx="2743200" cy="381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CCCCCC"/>
                </a:solidFill>
                <a:latin typeface="Calibri"/>
              </a:defRPr>
            </a:pPr>
            <a:r>
              <a:t>At inference, each layer maintains only:</a:t>
            </a:r>
          </a:p>
          <a:p>
            <a:pPr>
              <a:spcAft>
                <a:spcPts val="800"/>
              </a:spcAft>
              <a:defRPr sz="1900">
                <a:solidFill>
                  <a:srgbClr val="CCCCCC"/>
                </a:solidFill>
                <a:latin typeface="Calibri"/>
              </a:defRPr>
            </a:pPr>
            <a:r>
              <a:t>  (1) Fixed-length KV-cache for previous k frames (local attention)</a:t>
            </a:r>
          </a:p>
          <a:p>
            <a:pPr>
              <a:spcAft>
                <a:spcPts val="800"/>
              </a:spcAft>
              <a:defRPr sz="1900">
                <a:solidFill>
                  <a:srgbClr val="CCCCCC"/>
                </a:solidFill>
                <a:latin typeface="Calibri"/>
              </a:defRPr>
            </a:pPr>
            <a:r>
              <a:t>  (2) SSM hidden state per block (constant size, compresses ALL history)</a:t>
            </a:r>
          </a:p>
          <a:p>
            <a:pPr>
              <a:spcAft>
                <a:spcPts val="800"/>
              </a:spcAft>
              <a:defRPr sz="19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CCCCCC"/>
                </a:solidFill>
                <a:latin typeface="Calibri"/>
              </a:defRPr>
            </a:pPr>
            <a:r>
              <a:t>Memory usage: CONSTANT regardless of video length</a:t>
            </a:r>
          </a:p>
          <a:p>
            <a:pPr>
              <a:spcAft>
                <a:spcPts val="800"/>
              </a:spcAft>
              <a:defRPr sz="1900">
                <a:solidFill>
                  <a:srgbClr val="CCCCCC"/>
                </a:solidFill>
                <a:latin typeface="Calibri"/>
              </a:defRPr>
            </a:pPr>
            <a:r>
              <a:t>  Causal transformer: KV-cache grows linearly with every generated frame</a:t>
            </a:r>
          </a:p>
          <a:p>
            <a:pPr>
              <a:spcAft>
                <a:spcPts val="800"/>
              </a:spcAft>
              <a:defRPr sz="1900">
                <a:solidFill>
                  <a:srgbClr val="CCCCCC"/>
                </a:solidFill>
                <a:latin typeface="Calibri"/>
              </a:defRPr>
            </a:pPr>
            <a:r>
              <a:t>  This method: fixed KV (k frames) + fixed SSM states</a:t>
            </a:r>
          </a:p>
          <a:p>
            <a:pPr>
              <a:spcAft>
                <a:spcPts val="800"/>
              </a:spcAft>
              <a:defRPr sz="19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CCCCCC"/>
                </a:solidFill>
                <a:latin typeface="Calibri"/>
              </a:defRPr>
            </a:pPr>
            <a:r>
              <a:t>Per-frame generation speed: CONSTANT</a:t>
            </a:r>
          </a:p>
          <a:p>
            <a:pPr>
              <a:spcAft>
                <a:spcPts val="800"/>
              </a:spcAft>
              <a:defRPr sz="1900">
                <a:solidFill>
                  <a:srgbClr val="CCCCCC"/>
                </a:solidFill>
                <a:latin typeface="Calibri"/>
              </a:defRPr>
            </a:pPr>
            <a:r>
              <a:t>  Local attention: only over k frames (not all history)</a:t>
            </a:r>
          </a:p>
          <a:p>
            <a:pPr>
              <a:spcAft>
                <a:spcPts val="800"/>
              </a:spcAft>
              <a:defRPr sz="1900">
                <a:solidFill>
                  <a:srgbClr val="CCCCCC"/>
                </a:solidFill>
                <a:latin typeface="Calibri"/>
              </a:defRPr>
            </a:pPr>
            <a:r>
              <a:t>  SSM update: single state transition per block</a:t>
            </a:r>
          </a:p>
          <a:p>
            <a:pPr>
              <a:spcAft>
                <a:spcPts val="800"/>
              </a:spcAft>
              <a:defRPr sz="19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CCCCCC"/>
                </a:solidFill>
                <a:latin typeface="Calibri"/>
              </a:defRPr>
            </a:pPr>
            <a:r>
              <a:t>→ Can generate INFINITELY long videos without degradation</a:t>
            </a:r>
          </a:p>
          <a:p>
            <a:pPr>
              <a:spcAft>
                <a:spcPts val="800"/>
              </a:spcAft>
              <a:defRPr sz="1900">
                <a:solidFill>
                  <a:srgbClr val="CCCCCC"/>
                </a:solidFill>
                <a:latin typeface="Calibri"/>
              </a:defRPr>
            </a:pPr>
            <a:r>
              <a:t>→ Suitable for interactive applications (gaming, robotics)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EC9B0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Evaluation: Novel Memory-Focused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143000"/>
            <a:ext cx="2743200" cy="381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  <a:latin typeface="Calibri"/>
              </a:defRPr>
            </a:pPr>
            <a:r>
              <a:t>Datasets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Memory Maze — 3D mazes, 2000 frames/trajectory</a:t>
            </a:r>
          </a:p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  Specifically designed for long-term memory eval</a:t>
            </a:r>
          </a:p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TECO Minecraft — 200K gameplay trajectories</a:t>
            </a:r>
          </a:p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  4 discrete actions, 150 frames each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  <a:latin typeface="Calibri"/>
              </a:defRPr>
            </a:pPr>
            <a:r>
              <a:t>Novel Evaluation 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Spatial Retrieval — backtrack through maze,</a:t>
            </a:r>
          </a:p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  generated frames must match original observations</a:t>
            </a:r>
          </a:p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  Tests: can the model RECALL what it saw?</a:t>
            </a:r>
          </a:p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Spatial Reasoning — continue trajectory forward,</a:t>
            </a:r>
          </a:p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  must reconstruct previously observed regions</a:t>
            </a:r>
          </a:p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  Tests: can the model INFER from memory?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97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8D3F"/>
                </a:solidFill>
                <a:latin typeface="Calibri"/>
              </a:defRPr>
            </a:pPr>
            <a:r>
              <a:t>Metrics: SSIM, LPIPS, PSNR — comparing generated vs ground-truth frames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EC9B0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Results: Outperforms All Sub-Quadratic Methods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143000"/>
            <a:ext cx="2743200" cy="381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  <a:latin typeface="Calibri"/>
              </a:defRPr>
            </a:pPr>
            <a:r>
              <a:t>Memory Maze — Retrieval (400 frames)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EC9B0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0116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EC9B0"/>
                </a:solidFill>
                <a:latin typeface="Calibri"/>
              </a:defRPr>
            </a:pPr>
            <a:r>
              <a:t>SSIM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0116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EC9B0"/>
                </a:solidFill>
                <a:latin typeface="Calibri"/>
              </a:defRPr>
            </a:pPr>
            <a:r>
              <a:t>LPIPS 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116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EC9B0"/>
                </a:solidFill>
                <a:latin typeface="Calibri"/>
              </a:defRPr>
            </a:pPr>
            <a:r>
              <a:t>PSNR 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Causal (192 ctx)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423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0.829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423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0.147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423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26.4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8072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Mamba2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80720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0.747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80720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0.313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80720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20.4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1912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Mamba2 + Local Attn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19125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0.735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19125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0.336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19125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19.3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57530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E86B"/>
                </a:solidFill>
                <a:latin typeface="Calibri"/>
              </a:defRPr>
            </a:pPr>
            <a:r>
              <a:t>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57530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E86B"/>
                </a:solidFill>
                <a:latin typeface="Calibri"/>
              </a:defRPr>
            </a:pPr>
            <a:r>
              <a:t>0.898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57530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E86B"/>
                </a:solidFill>
                <a:latin typeface="Calibri"/>
              </a:defRPr>
            </a:pPr>
            <a:r>
              <a:t>0.069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357530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E86B"/>
                </a:solidFill>
                <a:latin typeface="Calibri"/>
              </a:defRPr>
            </a:pPr>
            <a:r>
              <a:t>30.8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9593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Causal (Full ctx)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395935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0.914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39593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0.057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39593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32.6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9BD2"/>
                </a:solidFill>
                <a:latin typeface="Calibri"/>
              </a:defRPr>
            </a:pPr>
            <a:r>
              <a:t>Memory Maze — Reasoning (224 frames)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9BD2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20116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9BD2"/>
                </a:solidFill>
                <a:latin typeface="Calibri"/>
              </a:defRPr>
            </a:pPr>
            <a:r>
              <a:t>SSIM 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20116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9BD2"/>
                </a:solidFill>
                <a:latin typeface="Calibri"/>
              </a:defRPr>
            </a:pPr>
            <a:r>
              <a:t>LPIPS 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20116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9BD2"/>
                </a:solidFill>
                <a:latin typeface="Calibri"/>
              </a:defRPr>
            </a:pPr>
            <a:r>
              <a:t>PSNR 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Causal (192 ctx)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2423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0.839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2423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0.125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2423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27.1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28072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Mamba2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0" y="280720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0.827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6960" y="280720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0.150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280720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26.4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31912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Mamba2 + Local Attn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9680" y="319125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0.845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60" y="319125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0.113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0" y="319125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27.5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357530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E86B"/>
                </a:solidFill>
                <a:latin typeface="Calibri"/>
              </a:defRPr>
            </a:pPr>
            <a:r>
              <a:t>Ours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357530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E86B"/>
                </a:solidFill>
                <a:latin typeface="Calibri"/>
              </a:defRPr>
            </a:pPr>
            <a:r>
              <a:t>0.855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6960" y="357530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E86B"/>
                </a:solidFill>
                <a:latin typeface="Calibri"/>
              </a:defRPr>
            </a:pPr>
            <a:r>
              <a:t>0.099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0" y="357530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E86B"/>
                </a:solidFill>
                <a:latin typeface="Calibri"/>
              </a:defRPr>
            </a:pPr>
            <a:r>
              <a:t>28.2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0" y="39593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Causal (Full ctx)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69680" y="395935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0.860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66960" y="39593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0.089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0" y="39593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28.8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" y="4754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8D3F"/>
                </a:solidFill>
                <a:latin typeface="Calibri"/>
              </a:defRPr>
            </a:pPr>
            <a:r>
              <a:t>Key: Ours approaches full-context causal transformer quality</a:t>
            </a:r>
            <a:br/>
            <a:r>
              <a:t>with LINEAR training cost and CONSTANT inference cost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EC9B0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Ablations: Every Component Is Essential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143000"/>
            <a:ext cx="2743200" cy="381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645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4EC9B0"/>
                </a:solidFill>
                <a:latin typeface="Calibri"/>
              </a:defRPr>
            </a:pPr>
            <a:r>
              <a:t>Configuration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645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4EC9B0"/>
                </a:solidFill>
                <a:latin typeface="Calibri"/>
              </a:defRPr>
            </a:pPr>
            <a:r>
              <a:t>SSIM 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645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4EC9B0"/>
                </a:solidFill>
                <a:latin typeface="Calibri"/>
              </a:defRPr>
            </a:pPr>
            <a:r>
              <a:t>LPIPS 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1645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4EC9B0"/>
                </a:solidFill>
                <a:latin typeface="Calibri"/>
              </a:defRPr>
            </a:pPr>
            <a:r>
              <a:t>PSNR 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94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w/o block-wise scan (single scan)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194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0.845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194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0.113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2194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27.5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697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Block size = 1 (no spatial coherence)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697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0.766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697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0.198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697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23.1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200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w/o clean-prefix training (Sec 4.2)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0.809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0.143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25.3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703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BE86B"/>
                </a:solidFill>
                <a:latin typeface="Calibri"/>
              </a:defRPr>
            </a:pPr>
            <a:r>
              <a:t>Full method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703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BE86B"/>
                </a:solidFill>
                <a:latin typeface="Calibri"/>
              </a:defRPr>
            </a:pPr>
            <a:r>
              <a:t>0.855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3703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BE86B"/>
                </a:solidFill>
                <a:latin typeface="Calibri"/>
              </a:defRPr>
            </a:pPr>
            <a:r>
              <a:t>0.099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3703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BE86B"/>
                </a:solidFill>
                <a:latin typeface="Calibri"/>
              </a:defRPr>
            </a:pPr>
            <a:r>
              <a:t>28.2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389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  <a:latin typeface="Calibri"/>
              </a:defRPr>
            </a:pPr>
            <a:r>
              <a:t>Takeaways: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84632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No block-wise scan → temporal tokens too far apart, SSM forgets</a:t>
            </a:r>
          </a:p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Block size 1 → perfect temporal proximity but no spatial coherence → bad reasoning</a:t>
            </a:r>
          </a:p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No clean-prefix training → model falls into local minimum, ignores distant context</a:t>
            </a:r>
          </a:p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All three innovations are NECESSARY — removing any one significantly hurts performance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EC9B0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Why This Paper Gets Published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143000"/>
            <a:ext cx="2743200" cy="381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9601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1. CLEAR PROBLEM FRAMING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   Existing video world models forget → concretely demonstrated (Fig. 1: look right, look left)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2. PRINCIPLED SOLUTION — not just engineering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   SSMs are naturally causal → used for their INTENDED purpose (unlike prior bidirectional hacks)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   Block-wise scan: theoretically motivated trade-off with clear complexity analysis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3. THREE SYNERGISTIC CONTRIBUTIONS, each ablated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   Architecture (block-wise SSM + local attention)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   Training (clean prefix forcing)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   Inference (constant-cost via fixed state)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4. NOVEL EVALUATION PROTOCOL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   Spatial retrieval + spatial reasoning tasks — specifically test long-term memory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   Not just FID/FVD but task-specific metrics that validate the core claim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5. STRONG RESULTS + HONEST POSITIONING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   Approaches full-context transformer (the expensive upper bound) at linear cost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   Doesn't claim to beat everything — clearly positions as sub-quadratic champion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EC9B0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Limitations &amp; Future Directions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143000"/>
            <a:ext cx="2743200" cy="381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9601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Limitations (acknowledged by authors):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  • Not yet interactive frame rates — needs timestep distillation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  • Cannot extrapolate beyond training context length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  • Experiments limited to low-resolution synthetic videos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Future directions: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  • Timestep distillation for real-time generation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  • Length extrapolation techniques (DeciMamba, etc.)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  • Scaling to high-resolution realistic videos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Connection to VSR (our thesis direction):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  • SSM temporal backbone → natural fit for long-video SR (&gt;1 min)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  • Block-wise scan → could propagate SR features across long sequences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  • Diffusion + SSM hybrid → high-quality SR with efficient temporal modeling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  • Clean-prefix training → could help SR models leverage distant reference frames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2743200" cy="381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CCCCCC"/>
                </a:solidFill>
                <a:latin typeface="Calibri"/>
              </a:defRPr>
            </a:pPr>
            <a:r>
              <a:t>Problem: Video world models lack long-term memory due to attention's O(n²) cost</a:t>
            </a:r>
          </a:p>
          <a:p>
            <a:pPr>
              <a:spcAft>
                <a:spcPts val="800"/>
              </a:spcAft>
              <a:defRPr sz="22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CCCCCC"/>
                </a:solidFill>
                <a:latin typeface="Calibri"/>
              </a:defRPr>
            </a:pPr>
            <a:r>
              <a:t>Solution: Hybrid SSM + Local Attention architecture</a:t>
            </a:r>
          </a:p>
          <a:p>
            <a:pPr>
              <a:spcAft>
                <a:spcPts val="800"/>
              </a:spcAft>
              <a:defRPr sz="2200">
                <a:solidFill>
                  <a:srgbClr val="CCCCCC"/>
                </a:solidFill>
                <a:latin typeface="Calibri"/>
              </a:defRPr>
            </a:pPr>
            <a:r>
              <a:t>  → Block-wise Mamba scan balances temporal memory vs spatial coherence</a:t>
            </a:r>
          </a:p>
          <a:p>
            <a:pPr>
              <a:spcAft>
                <a:spcPts val="800"/>
              </a:spcAft>
              <a:defRPr sz="2200">
                <a:solidFill>
                  <a:srgbClr val="CCCCCC"/>
                </a:solidFill>
                <a:latin typeface="Calibri"/>
              </a:defRPr>
            </a:pPr>
            <a:r>
              <a:t>  → Frame local attention ensures short-term quality</a:t>
            </a:r>
          </a:p>
          <a:p>
            <a:pPr>
              <a:spcAft>
                <a:spcPts val="800"/>
              </a:spcAft>
              <a:defRPr sz="2200">
                <a:solidFill>
                  <a:srgbClr val="CCCCCC"/>
                </a:solidFill>
                <a:latin typeface="Calibri"/>
              </a:defRPr>
            </a:pPr>
            <a:r>
              <a:t>  → Clean-prefix training forces long-range dependency learning</a:t>
            </a:r>
          </a:p>
          <a:p>
            <a:pPr>
              <a:spcAft>
                <a:spcPts val="800"/>
              </a:spcAft>
              <a:defRPr sz="22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CCCCCC"/>
                </a:solidFill>
                <a:latin typeface="Calibri"/>
              </a:defRPr>
            </a:pPr>
            <a:r>
              <a:t>Results:</a:t>
            </a:r>
          </a:p>
          <a:p>
            <a:pPr>
              <a:spcAft>
                <a:spcPts val="800"/>
              </a:spcAft>
              <a:defRPr sz="2200">
                <a:solidFill>
                  <a:srgbClr val="CCCCCC"/>
                </a:solidFill>
                <a:latin typeface="Calibri"/>
              </a:defRPr>
            </a:pPr>
            <a:r>
              <a:t>  → Linear training complexity, constant inference cost</a:t>
            </a:r>
          </a:p>
          <a:p>
            <a:pPr>
              <a:spcAft>
                <a:spcPts val="800"/>
              </a:spcAft>
              <a:defRPr sz="2200">
                <a:solidFill>
                  <a:srgbClr val="CCCCCC"/>
                </a:solidFill>
                <a:latin typeface="Calibri"/>
              </a:defRPr>
            </a:pPr>
            <a:r>
              <a:t>  → Matches full-context transformers at fraction of the cost</a:t>
            </a:r>
          </a:p>
          <a:p>
            <a:pPr>
              <a:spcAft>
                <a:spcPts val="800"/>
              </a:spcAft>
              <a:defRPr sz="2200">
                <a:solidFill>
                  <a:srgbClr val="CCCCCC"/>
                </a:solidFill>
                <a:latin typeface="Calibri"/>
              </a:defRPr>
            </a:pPr>
            <a:r>
              <a:t>  → All three components proven essential via ablation</a:t>
            </a:r>
          </a:p>
          <a:p>
            <a:pPr>
              <a:spcAft>
                <a:spcPts val="800"/>
              </a:spcAft>
              <a:defRPr sz="22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CCCCCC"/>
                </a:solidFill>
                <a:latin typeface="Calibri"/>
              </a:defRPr>
            </a:pPr>
            <a:r>
              <a:t>Impact: First video world model with genuine long-term memory</a:t>
            </a:r>
          </a:p>
          <a:p>
            <a:pPr>
              <a:spcAft>
                <a:spcPts val="800"/>
              </a:spcAft>
              <a:defRPr sz="2200">
                <a:solidFill>
                  <a:srgbClr val="CCCCCC"/>
                </a:solidFill>
                <a:latin typeface="Calibri"/>
              </a:defRPr>
            </a:pPr>
            <a:r>
              <a:t>at practical computational cost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