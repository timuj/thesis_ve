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2025 papers that take diffusion-based video super-resolution from ~50 sampling steps to a single step, with two different bets: SeedVR2 bets on scale plus adversarial post-training for maximum quality; FlashVSR bets on sparsity, causal streaming and a tiny decoder for real-time throughput. FlashVSR uses SeedVR2-3B as its strongest baseline, so they read naturally as a pair.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session: same goal (one-step diffusion VSR), opposite design points. Highlight the three shared themes now so the audience tracks them through both papers: (1) how you distill, (2) attention locality vs RoPE generalization, (3) after one-step distillation the VAE dominates runtime — both papers hit this wall and respond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conceptual point: adversarial training against REAL data removes the teacher ceiling that limits classic distillation. VR is easier to GAN-train than text-to-video because the LQ condition anchors the output — they observed no mode collapse even with a single adversarial stage. The 3B is distilled from the 7B and humans actually preferred the 3B.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discriminator design: it's not a small CNN — it is another full pre-trained diffusion transformer, so discriminator features are strong video representations. That's what makes the feature-matching loss a viable LPIPS substitute in latent space: LPIPS would need decoding to pixels every step, unaffordable for HR video.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most relevant to our thesis work: their diagnosis is that positional encodings fail when test-time geometry leaves the training distribution — the same phenomenon we probe temporally in FlashVSR with the RoPE probe. Their fix is to keep test statistics inside the training distribution (interpolation), not to extrapolate. Note they cap temporal windows at 30 latent frames — they sidestep temporal extrapolation entirely.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ordering to remember: swapping non-saturating GAN for RpGAN+R2 is the single biggest jump (LPIPS 0.310→0.278) and prevents collapse after ~20k iters; adding L1 then feature matching brings LPIPS to 0.244; progressive-distillation init adds fidelity (PSNR 22.9→24.0). Loss weights: G-side 1.0 each by default; final release uses 0.1 on the reconstruction terms — an explicit perception-distortion trade.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about temporal consistency: they report VMAF (leads on 3/4 synthetic sets) and DOVER plus temporal profiles, and explicitly argue warping error rewards blur — bicubic wins it. The &gt;95% VAE share means the headline 4x speedup is VAE-limited, not DiT-limited; this is exactly the gap FlashVSR's tiny conditional decoder attacks.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FlashVSR: SeedVR2 answers 'how good can one step be' but ignores latency structure — it is still an offline, chunked, 52 GB-class model. FlashVSR asks the complementary question: what does one-step diffusion VSR look like as a streaming 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LR-conditioning insight is the intellectual core: autoregressive video *generation* needs clean history (teacher forcing vs self-forcing dilemma, serial training). VSR doesn't — the LR frames carry the motion. That single observation unlocks parallel training with zero train-infer gap. Worth discussing when it breaks: heavy degradation where LR is uninformative.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the distillation choice with SeedVR2: DMD (distribution matching against a frozen teacher score) vs adversarial post-training against real data. FlashVSR keeps a teacher, so in principle inherits a teacher ceiling — but the teacher here is their own Stage-1 model trained on 120k videos. Also note ordering: sparsify FIRST, then distill, so the one-step student is trained under the exact inference-time mask.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disease as SeedVR2's window story, different organ: SeedVR2 fixes window-size statistics, FlashVSR fixes relative-position range. Both are interpolation strategies — keep inference inside the training distribution. Neither touches the temporal axis, which is where our RoPE-probe work on FlashVSR sits.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to stress. First, the KV-cache IS the temporal memory — there is no recurrence and no clean-latent feedback; the sink-attention failure shows cache management is unsolved beyond ~85 frames. Second, the TC decoder answers the exact bottleneck SeedVR2 complained about (VAE &gt;95% of runtime): condition the decoder on the LR pixels you already have and it can be tiny.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 to note: like SeedVR2, the one-step model optimizes the perceptual/no-reference end of the perception-distortion trade-off — PSNR/SSIM go to regression-style or teacher-forced models. No tOF or warping-error temporal metric is reported; temporal quality evidence is DOVER, the user study, and qualitative videos.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Fair-comparison caveats: the 70.6 s / 52.9 GB SeedVR2-3B numbers are FlashVSR's measurement at 768×1408; SeedVR2's own paper reports 269 s for 100 frames at 768×1344 including its slow VAE. Quality-wise the two papers' user studies point in opposite directions on SeedVR2-3B vs FlashVSR — different test sets and protocols; treat both as self-reported wins.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pitch tying to the thesis: FlashVSR is the natural experimental platform (code + weights + streaming design), SeedVR2 supplies the quality-side recipe and the evidence that PE robustness comes from training-range alignment. The open problem in between: temporal extrapolation and long-horizon memory for minute-plus videos — SSM state or learned cache management instead of a sliding window.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3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2011680"/>
          </a:xfrm>
          <a:prstGeom prst="rect">
            <a:avLst/>
          </a:prstGeom>
          <a:noFill/>
        </p:spPr>
        <p:txBody>
          <a:bodyPr wrap="none">
            <a:spAutoFit/>
          </a:bodyPr>
          <a:lstStyle/>
          <a:p>
            <a:r>
              <a:rPr sz="3600" b="1">
                <a:solidFill>
                  <a:srgbClr val="FFFFFF"/>
                </a:solidFill>
                <a:latin typeface="Calibri"/>
              </a:rPr>
              <a:t>One-Step Diffusion for Real-World Video Super-Resolution</a:t>
            </a:r>
          </a:p>
          <a:p>
            <a:pPr>
              <a:spcBef>
                <a:spcPts val="1400"/>
              </a:spcBef>
            </a:pPr>
            <a:r>
              <a:rPr sz="2200" b="0">
                <a:solidFill>
                  <a:srgbClr val="B9C4D4"/>
                </a:solidFill>
                <a:latin typeface="Calibri"/>
              </a:rPr>
              <a:t>SeedVR2 (arXiv 2506.05301)  ·  FlashVSR (arXiv 2510.12747)</a:t>
            </a:r>
          </a:p>
        </p:txBody>
      </p:sp>
      <p:sp>
        <p:nvSpPr>
          <p:cNvPr id="4" name="TextBox 3"/>
          <p:cNvSpPr txBox="1"/>
          <p:nvPr/>
        </p:nvSpPr>
        <p:spPr>
          <a:xfrm>
            <a:off x="822960" y="4937760"/>
            <a:ext cx="10515600" cy="1097280"/>
          </a:xfrm>
          <a:prstGeom prst="rect">
            <a:avLst/>
          </a:prstGeom>
          <a:noFill/>
        </p:spPr>
        <p:txBody>
          <a:bodyPr wrap="none">
            <a:spAutoFit/>
          </a:bodyPr>
          <a:lstStyle/>
          <a:p>
            <a:r>
              <a:rPr sz="1600" b="0">
                <a:solidFill>
                  <a:srgbClr val="B9C4D4"/>
                </a:solidFill>
                <a:latin typeface="Calibri"/>
              </a:rPr>
              <a:t>Timur Iakshibaev  ·  Lab reading group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2B3345"/>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411480"/>
          <a:lstStyle/>
          <a:p>
            <a:pPr algn="ctr"/>
            <a:r>
              <a:rPr sz="2600" b="1">
                <a:solidFill>
                  <a:srgbClr val="FFFFFF"/>
                </a:solidFill>
                <a:latin typeface="Calibri"/>
              </a:rPr>
              <a:t>Why these two papers</a:t>
            </a:r>
          </a:p>
        </p:txBody>
      </p:sp>
      <p:sp>
        <p:nvSpPr>
          <p:cNvPr id="3" name="TextBox 2"/>
          <p:cNvSpPr txBox="1"/>
          <p:nvPr/>
        </p:nvSpPr>
        <p:spPr>
          <a:xfrm>
            <a:off x="502920" y="1143000"/>
            <a:ext cx="11247120" cy="5394960"/>
          </a:xfrm>
          <a:prstGeom prst="rect">
            <a:avLst/>
          </a:prstGeom>
          <a:noFill/>
        </p:spPr>
        <p:txBody>
          <a:bodyPr wrap="square">
            <a:spAutoFit/>
          </a:bodyPr>
          <a:lstStyle/>
          <a:p>
            <a:pPr>
              <a:spcAft>
                <a:spcPts val="700"/>
              </a:spcAft>
            </a:pPr>
            <a:r>
              <a:rPr sz="1600">
                <a:solidFill>
                  <a:srgbClr val="212630"/>
                </a:solidFill>
              </a:rPr>
              <a:t>▪  </a:t>
            </a:r>
            <a:r>
              <a:rPr sz="1600" b="1">
                <a:solidFill>
                  <a:srgbClr val="212630"/>
                </a:solidFill>
                <a:latin typeface="Calibri"/>
              </a:rPr>
              <a:t>Real-world VSR:</a:t>
            </a:r>
            <a:r>
              <a:rPr sz="1600" b="0">
                <a:solidFill>
                  <a:srgbClr val="212630"/>
                </a:solidFill>
                <a:latin typeface="Calibri"/>
              </a:rPr>
              <a:t> recover HQ video from LQ input with unknown, mixed degradations — diffusion priors give realistic textures where regression models (BasicVSR-style) over-smooth.</a:t>
            </a:r>
          </a:p>
          <a:p>
            <a:pPr>
              <a:spcAft>
                <a:spcPts val="700"/>
              </a:spcAft>
            </a:pPr>
            <a:r>
              <a:rPr sz="1600">
                <a:solidFill>
                  <a:srgbClr val="212630"/>
                </a:solidFill>
              </a:rPr>
              <a:t>▪  </a:t>
            </a:r>
            <a:r>
              <a:rPr sz="1600" b="1">
                <a:solidFill>
                  <a:srgbClr val="212630"/>
                </a:solidFill>
                <a:latin typeface="Calibri"/>
              </a:rPr>
              <a:t>The problem is cost:</a:t>
            </a:r>
            <a:r>
              <a:rPr sz="1600" b="0">
                <a:solidFill>
                  <a:srgbClr val="212630"/>
                </a:solidFill>
                <a:latin typeface="Calibri"/>
              </a:rPr>
              <a:t> 15–50 denoising steps per output. For 100 frames at 768×1344: Upscale-A-Video ≈ 1285 s, STAR ≈ 2326 s, SeedVR-7B (50 steps) ≈ 1285 s.</a:t>
            </a:r>
          </a:p>
          <a:p>
            <a:pPr>
              <a:spcAft>
                <a:spcPts val="700"/>
              </a:spcAft>
            </a:pPr>
            <a:r>
              <a:rPr sz="1600">
                <a:solidFill>
                  <a:srgbClr val="212630"/>
                </a:solidFill>
              </a:rPr>
              <a:t>▪  </a:t>
            </a:r>
            <a:r>
              <a:rPr sz="1600" b="1">
                <a:solidFill>
                  <a:srgbClr val="212630"/>
                </a:solidFill>
                <a:latin typeface="Calibri"/>
              </a:rPr>
              <a:t>Both papers collapse sampling to 1 step</a:t>
            </a:r>
            <a:r>
              <a:rPr sz="1600" b="0">
                <a:solidFill>
                  <a:srgbClr val="212630"/>
                </a:solidFill>
                <a:latin typeface="Calibri"/>
              </a:rPr>
              <a:t>, but optimize different objectives:</a:t>
            </a:r>
          </a:p>
          <a:p>
            <a:pPr lvl="1">
              <a:spcAft>
                <a:spcPts val="400"/>
              </a:spcAft>
            </a:pPr>
            <a:r>
              <a:rPr sz="1400">
                <a:solidFill>
                  <a:srgbClr val="59616E"/>
                </a:solidFill>
              </a:rPr>
              <a:t>–  </a:t>
            </a:r>
            <a:r>
              <a:rPr sz="1400" b="1">
                <a:solidFill>
                  <a:srgbClr val="59616E"/>
                </a:solidFill>
                <a:latin typeface="Calibri"/>
              </a:rPr>
              <a:t>SeedVR2</a:t>
            </a:r>
            <a:r>
              <a:rPr sz="1400" b="0">
                <a:solidFill>
                  <a:srgbClr val="59616E"/>
                </a:solidFill>
                <a:latin typeface="Calibri"/>
              </a:rPr>
              <a:t> (ByteDance Seed + NTU, Jun 2025): keep the big 7B DiT, replace step-by-step sampling with adversarial post-training against real data → quality first.</a:t>
            </a:r>
          </a:p>
          <a:p>
            <a:pPr lvl="1">
              <a:spcAft>
                <a:spcPts val="400"/>
              </a:spcAft>
            </a:pPr>
            <a:r>
              <a:rPr sz="1400">
                <a:solidFill>
                  <a:srgbClr val="59616E"/>
                </a:solidFill>
              </a:rPr>
              <a:t>–  </a:t>
            </a:r>
            <a:r>
              <a:rPr sz="1400" b="1">
                <a:solidFill>
                  <a:srgbClr val="59616E"/>
                </a:solidFill>
                <a:latin typeface="Calibri"/>
              </a:rPr>
              <a:t>FlashVSR</a:t>
            </a:r>
            <a:r>
              <a:rPr sz="1400" b="0">
                <a:solidFill>
                  <a:srgbClr val="59616E"/>
                </a:solidFill>
                <a:latin typeface="Calibri"/>
              </a:rPr>
              <a:t> (Tsinghua + Shanghai AI Lab, Oct 2025): 1.3B causal DiT with block-sparse attention, KV-cache streaming, tiny decoder → 17 FPS, constant memory.</a:t>
            </a:r>
          </a:p>
          <a:p>
            <a:pPr>
              <a:spcAft>
                <a:spcPts val="700"/>
              </a:spcAft>
            </a:pPr>
            <a:r>
              <a:rPr sz="1600">
                <a:solidFill>
                  <a:srgbClr val="212630"/>
                </a:solidFill>
              </a:rPr>
              <a:t>▪  </a:t>
            </a:r>
            <a:r>
              <a:rPr sz="1600" b="1">
                <a:solidFill>
                  <a:srgbClr val="212630"/>
                </a:solidFill>
                <a:latin typeface="Calibri"/>
              </a:rPr>
              <a:t>Shared technical themes:</a:t>
            </a:r>
            <a:r>
              <a:rPr sz="1600" b="0">
                <a:solidFill>
                  <a:srgbClr val="212630"/>
                </a:solidFill>
                <a:latin typeface="Calibri"/>
              </a:rPr>
              <a:t> distillation from a flow-matching teacher, attention locality as the key to resolution generalization (RoPE range mismatch), and the VAE/decoder becoming the bottleneck once the DiT is one-step.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411480"/>
          <a:lstStyle/>
          <a:p>
            <a:pPr algn="ctr"/>
            <a:r>
              <a:rPr sz="2600" b="1">
                <a:solidFill>
                  <a:srgbClr val="FFFFFF"/>
                </a:solidFill>
                <a:latin typeface="Calibri"/>
              </a:rPr>
              <a:t>SeedVR2 — problem and core idea</a:t>
            </a:r>
          </a:p>
        </p:txBody>
      </p:sp>
      <p:sp>
        <p:nvSpPr>
          <p:cNvPr id="3" name="TextBox 2"/>
          <p:cNvSpPr txBox="1"/>
          <p:nvPr/>
        </p:nvSpPr>
        <p:spPr>
          <a:xfrm>
            <a:off x="8168335" y="54864"/>
            <a:ext cx="3749039" cy="320040"/>
          </a:xfrm>
          <a:prstGeom prst="rect">
            <a:avLst/>
          </a:prstGeom>
          <a:noFill/>
        </p:spPr>
        <p:txBody>
          <a:bodyPr wrap="none">
            <a:spAutoFit/>
          </a:bodyPr>
          <a:lstStyle/>
          <a:p>
            <a:pPr algn="r"/>
            <a:r>
              <a:rPr sz="1100" b="0">
                <a:solidFill>
                  <a:srgbClr val="E8EAEE"/>
                </a:solidFill>
                <a:latin typeface="Calibri"/>
              </a:rPr>
              <a:t>Wang et al., NTU + ByteDance Seed</a:t>
            </a:r>
          </a:p>
        </p:txBody>
      </p:sp>
      <p:sp>
        <p:nvSpPr>
          <p:cNvPr id="4" name="TextBox 3"/>
          <p:cNvSpPr txBox="1"/>
          <p:nvPr/>
        </p:nvSpPr>
        <p:spPr>
          <a:xfrm>
            <a:off x="502920" y="1143000"/>
            <a:ext cx="6949440" cy="5394960"/>
          </a:xfrm>
          <a:prstGeom prst="rect">
            <a:avLst/>
          </a:prstGeom>
          <a:noFill/>
        </p:spPr>
        <p:txBody>
          <a:bodyPr wrap="square">
            <a:spAutoFit/>
          </a:bodyPr>
          <a:lstStyle/>
          <a:p>
            <a:pPr>
              <a:spcAft>
                <a:spcPts val="700"/>
              </a:spcAft>
            </a:pPr>
            <a:r>
              <a:rPr sz="1400">
                <a:solidFill>
                  <a:srgbClr val="212630"/>
                </a:solidFill>
              </a:rPr>
              <a:t>▪  </a:t>
            </a:r>
            <a:r>
              <a:rPr sz="1400" b="1">
                <a:solidFill>
                  <a:srgbClr val="212630"/>
                </a:solidFill>
                <a:latin typeface="Calibri"/>
              </a:rPr>
              <a:t>Starting point — SeedVR:</a:t>
            </a:r>
            <a:r>
              <a:rPr sz="1400" b="0">
                <a:solidFill>
                  <a:srgbClr val="212630"/>
                </a:solidFill>
                <a:latin typeface="Calibri"/>
              </a:rPr>
              <a:t> Swin-MMDiT diffusion restorer (7B), strong quality but 50 sampling steps.</a:t>
            </a:r>
          </a:p>
          <a:p>
            <a:pPr>
              <a:spcAft>
                <a:spcPts val="700"/>
              </a:spcAft>
            </a:pPr>
            <a:r>
              <a:rPr sz="1400">
                <a:solidFill>
                  <a:srgbClr val="212630"/>
                </a:solidFill>
              </a:rPr>
              <a:t>▪  </a:t>
            </a:r>
            <a:r>
              <a:rPr sz="1400" b="1">
                <a:solidFill>
                  <a:srgbClr val="212630"/>
                </a:solidFill>
                <a:latin typeface="Calibri"/>
              </a:rPr>
              <a:t>Why not standard one-step distillation?</a:t>
            </a:r>
          </a:p>
          <a:p>
            <a:pPr lvl="1">
              <a:spcAft>
                <a:spcPts val="400"/>
              </a:spcAft>
            </a:pPr>
            <a:r>
              <a:rPr sz="1200">
                <a:solidFill>
                  <a:srgbClr val="59616E"/>
                </a:solidFill>
              </a:rPr>
              <a:t>–  </a:t>
            </a:r>
            <a:r>
              <a:rPr sz="1200" b="0">
                <a:solidFill>
                  <a:srgbClr val="59616E"/>
                </a:solidFill>
                <a:latin typeface="Calibri"/>
              </a:rPr>
              <a:t>Student quality is upper-bounded by the multi-step teacher; pre-computing teacher outputs is expensive; image methods lack temporal design.</a:t>
            </a:r>
          </a:p>
          <a:p>
            <a:pPr>
              <a:spcAft>
                <a:spcPts val="700"/>
              </a:spcAft>
            </a:pPr>
            <a:r>
              <a:rPr sz="1400">
                <a:solidFill>
                  <a:srgbClr val="212630"/>
                </a:solidFill>
              </a:rPr>
              <a:t>▪  </a:t>
            </a:r>
            <a:r>
              <a:rPr sz="1400" b="1">
                <a:solidFill>
                  <a:srgbClr val="212630"/>
                </a:solidFill>
                <a:latin typeface="Calibri"/>
              </a:rPr>
              <a:t>Core idea — Adversarial Post-Training (APT) against real data:</a:t>
            </a:r>
            <a:r>
              <a:rPr sz="1400" b="0">
                <a:solidFill>
                  <a:srgbClr val="212630"/>
                </a:solidFill>
                <a:latin typeface="Calibri"/>
              </a:rPr>
              <a:t> initialize from the diffusion model, then train GAN-style vs. ground-truth videos with no frozen teacher → the one-step student can surpass its initialization.</a:t>
            </a:r>
          </a:p>
          <a:p>
            <a:pPr>
              <a:spcAft>
                <a:spcPts val="700"/>
              </a:spcAft>
            </a:pPr>
            <a:r>
              <a:rPr sz="1400">
                <a:solidFill>
                  <a:srgbClr val="212630"/>
                </a:solidFill>
              </a:rPr>
              <a:t>▪  </a:t>
            </a:r>
            <a:r>
              <a:rPr sz="1400" b="1">
                <a:solidFill>
                  <a:srgbClr val="212630"/>
                </a:solidFill>
                <a:latin typeface="Calibri"/>
              </a:rPr>
              <a:t>Contributions:</a:t>
            </a:r>
          </a:p>
          <a:p>
            <a:pPr lvl="1">
              <a:spcAft>
                <a:spcPts val="400"/>
              </a:spcAft>
            </a:pPr>
            <a:r>
              <a:rPr sz="1200">
                <a:solidFill>
                  <a:srgbClr val="59616E"/>
                </a:solidFill>
              </a:rPr>
              <a:t>–  </a:t>
            </a:r>
            <a:r>
              <a:rPr sz="1200" b="1">
                <a:solidFill>
                  <a:srgbClr val="59616E"/>
                </a:solidFill>
                <a:latin typeface="Calibri"/>
              </a:rPr>
              <a:t>Adaptive window attention</a:t>
            </a:r>
            <a:r>
              <a:rPr sz="1200" b="0">
                <a:solidFill>
                  <a:srgbClr val="59616E"/>
                </a:solidFill>
                <a:latin typeface="Calibri"/>
              </a:rPr>
              <a:t> — fixes boundary artifacts + RoPE generalization at 1080p/2K.</a:t>
            </a:r>
          </a:p>
          <a:p>
            <a:pPr lvl="1">
              <a:spcAft>
                <a:spcPts val="400"/>
              </a:spcAft>
            </a:pPr>
            <a:r>
              <a:rPr sz="1200">
                <a:solidFill>
                  <a:srgbClr val="59616E"/>
                </a:solidFill>
              </a:rPr>
              <a:t>–  </a:t>
            </a:r>
            <a:r>
              <a:rPr sz="1200" b="1">
                <a:solidFill>
                  <a:srgbClr val="59616E"/>
                </a:solidFill>
                <a:latin typeface="Calibri"/>
              </a:rPr>
              <a:t>Stabilized GAN recipe</a:t>
            </a:r>
            <a:r>
              <a:rPr sz="1200" b="0">
                <a:solidFill>
                  <a:srgbClr val="59616E"/>
                </a:solidFill>
                <a:latin typeface="Calibri"/>
              </a:rPr>
              <a:t> — RpGAN + approximated R1/R2 regularization.</a:t>
            </a:r>
          </a:p>
          <a:p>
            <a:pPr lvl="1">
              <a:spcAft>
                <a:spcPts val="400"/>
              </a:spcAft>
            </a:pPr>
            <a:r>
              <a:rPr sz="1200">
                <a:solidFill>
                  <a:srgbClr val="59616E"/>
                </a:solidFill>
              </a:rPr>
              <a:t>–  </a:t>
            </a:r>
            <a:r>
              <a:rPr sz="1200" b="1">
                <a:solidFill>
                  <a:srgbClr val="59616E"/>
                </a:solidFill>
                <a:latin typeface="Calibri"/>
              </a:rPr>
              <a:t>Feature-matching loss</a:t>
            </a:r>
            <a:r>
              <a:rPr sz="1200" b="0">
                <a:solidFill>
                  <a:srgbClr val="59616E"/>
                </a:solidFill>
                <a:latin typeface="Calibri"/>
              </a:rPr>
              <a:t> on discriminator features — replaces LPIPS (no pixel decode).</a:t>
            </a:r>
          </a:p>
          <a:p>
            <a:pPr lvl="1">
              <a:spcAft>
                <a:spcPts val="400"/>
              </a:spcAft>
            </a:pPr>
            <a:r>
              <a:rPr sz="1200">
                <a:solidFill>
                  <a:srgbClr val="59616E"/>
                </a:solidFill>
              </a:rPr>
              <a:t>–  </a:t>
            </a:r>
            <a:r>
              <a:rPr sz="1200" b="1">
                <a:solidFill>
                  <a:srgbClr val="59616E"/>
                </a:solidFill>
                <a:latin typeface="Calibri"/>
              </a:rPr>
              <a:t>Progressive distillation init</a:t>
            </a:r>
            <a:r>
              <a:rPr sz="1200" b="0">
                <a:solidFill>
                  <a:srgbClr val="59616E"/>
                </a:solidFill>
                <a:latin typeface="Calibri"/>
              </a:rPr>
              <a:t> (64→1 steps) before adversarial training.</a:t>
            </a:r>
          </a:p>
          <a:p>
            <a:pPr>
              <a:spcAft>
                <a:spcPts val="700"/>
              </a:spcAft>
            </a:pPr>
            <a:r>
              <a:rPr sz="1400">
                <a:solidFill>
                  <a:srgbClr val="212630"/>
                </a:solidFill>
              </a:rPr>
              <a:t>▪  </a:t>
            </a:r>
            <a:r>
              <a:rPr sz="1400" b="0">
                <a:solidFill>
                  <a:srgbClr val="212630"/>
                </a:solidFill>
                <a:latin typeface="Calibri"/>
              </a:rPr>
              <a:t>Largest VR GAN trained to date: generator + discriminator ≈ </a:t>
            </a:r>
            <a:r>
              <a:rPr sz="1400" b="1">
                <a:solidFill>
                  <a:srgbClr val="212630"/>
                </a:solidFill>
                <a:latin typeface="Calibri"/>
              </a:rPr>
              <a:t>16B params</a:t>
            </a:r>
            <a:r>
              <a:rPr sz="1400" b="0">
                <a:solidFill>
                  <a:srgbClr val="212630"/>
                </a:solidFill>
                <a:latin typeface="Calibri"/>
              </a:rPr>
              <a:t> (3B &amp; 7B generator variants).</a:t>
            </a:r>
          </a:p>
        </p:txBody>
      </p:sp>
      <p:pic>
        <p:nvPicPr>
          <p:cNvPr id="5" name="Picture 4" descr="seed_fig1_hero.png"/>
          <p:cNvPicPr>
            <a:picLocks noChangeAspect="1"/>
          </p:cNvPicPr>
          <p:nvPr/>
        </p:nvPicPr>
        <p:blipFill>
          <a:blip r:embed="rId2"/>
          <a:stretch>
            <a:fillRect/>
          </a:stretch>
        </p:blipFill>
        <p:spPr>
          <a:xfrm>
            <a:off x="7635240" y="1463040"/>
            <a:ext cx="4236415" cy="2370423"/>
          </a:xfrm>
          <a:prstGeom prst="rect">
            <a:avLst/>
          </a:prstGeom>
        </p:spPr>
      </p:pic>
      <p:sp>
        <p:nvSpPr>
          <p:cNvPr id="6" name="TextBox 5"/>
          <p:cNvSpPr txBox="1"/>
          <p:nvPr/>
        </p:nvSpPr>
        <p:spPr>
          <a:xfrm>
            <a:off x="7635240" y="3860895"/>
            <a:ext cx="4236415" cy="274320"/>
          </a:xfrm>
          <a:prstGeom prst="rect">
            <a:avLst/>
          </a:prstGeom>
          <a:noFill/>
        </p:spPr>
        <p:txBody>
          <a:bodyPr wrap="none">
            <a:spAutoFit/>
          </a:bodyPr>
          <a:lstStyle/>
          <a:p>
            <a:pPr algn="ctr"/>
            <a:r>
              <a:rPr sz="1000" b="0">
                <a:solidFill>
                  <a:srgbClr val="59616E"/>
                </a:solidFill>
                <a:latin typeface="Calibri"/>
              </a:rPr>
              <a:t>Fig. 1 — quality vs. speed; ≥4× faster than 50-step baselines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411480"/>
          <a:lstStyle/>
          <a:p>
            <a:pPr algn="ctr"/>
            <a:r>
              <a:rPr sz="2600" b="1">
                <a:solidFill>
                  <a:srgbClr val="FFFFFF"/>
                </a:solidFill>
                <a:latin typeface="Calibri"/>
              </a:rPr>
              <a:t>SeedVR2 — architecture</a:t>
            </a:r>
          </a:p>
        </p:txBody>
      </p:sp>
      <p:pic>
        <p:nvPicPr>
          <p:cNvPr id="3" name="Picture 2" descr="seed_fig2_arch.png"/>
          <p:cNvPicPr>
            <a:picLocks noChangeAspect="1"/>
          </p:cNvPicPr>
          <p:nvPr/>
        </p:nvPicPr>
        <p:blipFill>
          <a:blip r:embed="rId2"/>
          <a:stretch>
            <a:fillRect/>
          </a:stretch>
        </p:blipFill>
        <p:spPr>
          <a:xfrm>
            <a:off x="1443593" y="1143000"/>
            <a:ext cx="9274334" cy="3108960"/>
          </a:xfrm>
          <a:prstGeom prst="rect">
            <a:avLst/>
          </a:prstGeom>
        </p:spPr>
      </p:pic>
      <p:sp>
        <p:nvSpPr>
          <p:cNvPr id="4" name="TextBox 3"/>
          <p:cNvSpPr txBox="1"/>
          <p:nvPr/>
        </p:nvSpPr>
        <p:spPr>
          <a:xfrm>
            <a:off x="640080" y="4279392"/>
            <a:ext cx="10881360" cy="274320"/>
          </a:xfrm>
          <a:prstGeom prst="rect">
            <a:avLst/>
          </a:prstGeom>
          <a:noFill/>
        </p:spPr>
        <p:txBody>
          <a:bodyPr wrap="none">
            <a:spAutoFit/>
          </a:bodyPr>
          <a:lstStyle/>
          <a:p>
            <a:pPr algn="ctr"/>
            <a:r>
              <a:rPr sz="1000" b="0">
                <a:solidFill>
                  <a:srgbClr val="59616E"/>
                </a:solidFill>
                <a:latin typeface="Calibri"/>
              </a:rPr>
              <a:t>Fig. 2 — generator + DiT discriminator with taps at blocks 16/26/36 (feature-matching + RpGAN heads)</a:t>
            </a:r>
          </a:p>
        </p:txBody>
      </p:sp>
      <p:sp>
        <p:nvSpPr>
          <p:cNvPr id="5" name="TextBox 4"/>
          <p:cNvSpPr txBox="1"/>
          <p:nvPr/>
        </p:nvSpPr>
        <p:spPr>
          <a:xfrm>
            <a:off x="502920" y="4754880"/>
            <a:ext cx="11247120" cy="2194560"/>
          </a:xfrm>
          <a:prstGeom prst="rect">
            <a:avLst/>
          </a:prstGeom>
          <a:noFill/>
        </p:spPr>
        <p:txBody>
          <a:bodyPr wrap="square">
            <a:spAutoFit/>
          </a:bodyPr>
          <a:lstStyle/>
          <a:p>
            <a:pPr>
              <a:spcAft>
                <a:spcPts val="700"/>
              </a:spcAft>
            </a:pPr>
            <a:r>
              <a:rPr sz="1400">
                <a:solidFill>
                  <a:srgbClr val="212630"/>
                </a:solidFill>
              </a:rPr>
              <a:t>▪  </a:t>
            </a:r>
            <a:r>
              <a:rPr sz="1400" b="1">
                <a:solidFill>
                  <a:srgbClr val="212630"/>
                </a:solidFill>
                <a:latin typeface="Calibri"/>
              </a:rPr>
              <a:t>Generator:</a:t>
            </a:r>
            <a:r>
              <a:rPr sz="1400" b="0">
                <a:solidFill>
                  <a:srgbClr val="212630"/>
                </a:solidFill>
                <a:latin typeface="Calibri"/>
              </a:rPr>
              <a:t> SeedVR's Swin-MMDiT, 36 blocks; inputs = noise + noised LQ latent + text + timestep; trained on the velocity field (flow matching, v-prediction).</a:t>
            </a:r>
          </a:p>
          <a:p>
            <a:pPr>
              <a:spcAft>
                <a:spcPts val="700"/>
              </a:spcAft>
            </a:pPr>
            <a:r>
              <a:rPr sz="1400">
                <a:solidFill>
                  <a:srgbClr val="212630"/>
                </a:solidFill>
              </a:rPr>
              <a:t>▪  </a:t>
            </a:r>
            <a:r>
              <a:rPr sz="1400" b="1">
                <a:solidFill>
                  <a:srgbClr val="212630"/>
                </a:solidFill>
                <a:latin typeface="Calibri"/>
              </a:rPr>
              <a:t>VAE:</a:t>
            </a:r>
            <a:r>
              <a:rPr sz="1400" b="0">
                <a:solidFill>
                  <a:srgbClr val="212630"/>
                </a:solidFill>
                <a:latin typeface="Calibri"/>
              </a:rPr>
              <a:t> SeedVR's causal video VAE (8× spatial compression) — reused unchanged; later shown to be the runtime bottleneck.</a:t>
            </a:r>
          </a:p>
          <a:p>
            <a:pPr>
              <a:spcAft>
                <a:spcPts val="700"/>
              </a:spcAft>
            </a:pPr>
            <a:r>
              <a:rPr sz="1400">
                <a:solidFill>
                  <a:srgbClr val="212630"/>
                </a:solidFill>
              </a:rPr>
              <a:t>▪  </a:t>
            </a:r>
            <a:r>
              <a:rPr sz="1400" b="1">
                <a:solidFill>
                  <a:srgbClr val="212630"/>
                </a:solidFill>
                <a:latin typeface="Calibri"/>
              </a:rPr>
              <a:t>Discriminator = a second pre-trained DiT</a:t>
            </a:r>
            <a:r>
              <a:rPr sz="1400" b="0">
                <a:solidFill>
                  <a:srgbClr val="212630"/>
                </a:solidFill>
                <a:latin typeface="Calibri"/>
              </a:rPr>
              <a:t> (APT recipe): cross-attention-only blocks + MLPs tap features after backbone blocks 16 / 26 / 36 → LayerNorm + Linear → GAN logits.</a:t>
            </a:r>
          </a:p>
          <a:p>
            <a:pPr lvl="1">
              <a:spcAft>
                <a:spcPts val="400"/>
              </a:spcAft>
            </a:pPr>
            <a:r>
              <a:rPr sz="1200">
                <a:solidFill>
                  <a:srgbClr val="59616E"/>
                </a:solidFill>
              </a:rPr>
              <a:t>–  </a:t>
            </a:r>
            <a:r>
              <a:rPr sz="1200" b="0">
                <a:solidFill>
                  <a:srgbClr val="59616E"/>
                </a:solidFill>
                <a:latin typeface="Calibri"/>
              </a:rPr>
              <a:t>Same taps double as a perceptual feature extractor for the feature-matching loss.</a:t>
            </a:r>
          </a:p>
          <a:p>
            <a:pPr>
              <a:spcAft>
                <a:spcPts val="700"/>
              </a:spcAft>
            </a:pPr>
            <a:r>
              <a:rPr sz="1400">
                <a:solidFill>
                  <a:srgbClr val="212630"/>
                </a:solidFill>
              </a:rPr>
              <a:t>▪  </a:t>
            </a:r>
            <a:r>
              <a:rPr sz="1400" b="1">
                <a:solidFill>
                  <a:srgbClr val="212630"/>
                </a:solidFill>
                <a:latin typeface="Calibri"/>
              </a:rPr>
              <a:t>Model sizes:</a:t>
            </a:r>
            <a:r>
              <a:rPr sz="1400" b="0">
                <a:solidFill>
                  <a:srgbClr val="212630"/>
                </a:solidFill>
                <a:latin typeface="Calibri"/>
              </a:rPr>
              <a:t> Ours-7B = 8 240 M (same as SeedVR-7B), Ours-3B = 3 391 M, distilled from the 7B.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411480"/>
          <a:lstStyle/>
          <a:p>
            <a:pPr algn="ctr"/>
            <a:r>
              <a:rPr sz="2600" b="1">
                <a:solidFill>
                  <a:srgbClr val="FFFFFF"/>
                </a:solidFill>
                <a:latin typeface="Calibri"/>
              </a:rPr>
              <a:t>SeedVR2 — adaptive window attention</a:t>
            </a:r>
          </a:p>
        </p:txBody>
      </p:sp>
      <p:sp>
        <p:nvSpPr>
          <p:cNvPr id="3" name="TextBox 2"/>
          <p:cNvSpPr txBox="1"/>
          <p:nvPr/>
        </p:nvSpPr>
        <p:spPr>
          <a:xfrm>
            <a:off x="502920" y="1143000"/>
            <a:ext cx="11247120" cy="2377440"/>
          </a:xfrm>
          <a:prstGeom prst="rect">
            <a:avLst/>
          </a:prstGeom>
          <a:noFill/>
        </p:spPr>
        <p:txBody>
          <a:bodyPr wrap="square">
            <a:spAutoFit/>
          </a:bodyPr>
          <a:lstStyle/>
          <a:p>
            <a:pPr>
              <a:spcAft>
                <a:spcPts val="700"/>
              </a:spcAft>
            </a:pPr>
            <a:r>
              <a:rPr sz="1400">
                <a:solidFill>
                  <a:srgbClr val="212630"/>
                </a:solidFill>
              </a:rPr>
              <a:t>▪  </a:t>
            </a:r>
            <a:r>
              <a:rPr sz="1400" b="1">
                <a:solidFill>
                  <a:srgbClr val="212630"/>
                </a:solidFill>
                <a:latin typeface="Calibri"/>
              </a:rPr>
              <a:t>Failure mode of SeedVR:</a:t>
            </a:r>
            <a:r>
              <a:rPr sz="1400" b="0">
                <a:solidFill>
                  <a:srgbClr val="212630"/>
                </a:solidFill>
                <a:latin typeface="Calibri"/>
              </a:rPr>
              <a:t> predefined 64×64-latent shifted windows → visible seams at &gt;2K output; 3D RoPE inside windows generalizes poorly to unseen resolutions.</a:t>
            </a:r>
          </a:p>
          <a:p>
            <a:pPr lvl="1">
              <a:spcAft>
                <a:spcPts val="400"/>
              </a:spcAft>
            </a:pPr>
            <a:r>
              <a:rPr sz="1200">
                <a:solidFill>
                  <a:srgbClr val="59616E"/>
                </a:solidFill>
              </a:rPr>
              <a:t>–  </a:t>
            </a:r>
            <a:r>
              <a:rPr sz="1200" b="0">
                <a:solidFill>
                  <a:srgbClr val="59616E"/>
                </a:solidFill>
                <a:latin typeface="Calibri"/>
              </a:rPr>
              <a:t>At 720p training resolution, fixed windows almost never create overlap/shift cases → the model is undertrained on exactly what high-res inference needs.</a:t>
            </a:r>
          </a:p>
          <a:p>
            <a:pPr>
              <a:spcAft>
                <a:spcPts val="700"/>
              </a:spcAft>
            </a:pPr>
            <a:r>
              <a:rPr sz="1400">
                <a:solidFill>
                  <a:srgbClr val="212630"/>
                </a:solidFill>
              </a:rPr>
              <a:t>▪  </a:t>
            </a:r>
            <a:r>
              <a:rPr sz="1400" b="1">
                <a:solidFill>
                  <a:srgbClr val="212630"/>
                </a:solidFill>
                <a:latin typeface="Calibri"/>
              </a:rPr>
              <a:t>Training:</a:t>
            </a:r>
            <a:r>
              <a:rPr sz="1400" b="0">
                <a:solidFill>
                  <a:srgbClr val="212630"/>
                </a:solidFill>
                <a:latin typeface="Calibri"/>
              </a:rPr>
              <a:t> partition the feature map into a fixed </a:t>
            </a:r>
            <a:r>
              <a:rPr sz="1400" b="1">
                <a:solidFill>
                  <a:srgbClr val="212630"/>
                </a:solidFill>
                <a:latin typeface="Calibri"/>
              </a:rPr>
              <a:t>3×3 grid of spatial windows</a:t>
            </a:r>
            <a:r>
              <a:rPr sz="1400" b="0">
                <a:solidFill>
                  <a:srgbClr val="212630"/>
                </a:solidFill>
                <a:latin typeface="Calibri"/>
              </a:rPr>
              <a:t> (window size adapts to input); temporal window capped at 30 latent frames. Varying aspect ratios in the data → the model sees many window sizes.</a:t>
            </a:r>
          </a:p>
          <a:p>
            <a:pPr>
              <a:spcAft>
                <a:spcPts val="700"/>
              </a:spcAft>
            </a:pPr>
            <a:r>
              <a:rPr sz="1400">
                <a:solidFill>
                  <a:srgbClr val="212630"/>
                </a:solidFill>
              </a:rPr>
              <a:t>▪  </a:t>
            </a:r>
            <a:r>
              <a:rPr sz="1400" b="1">
                <a:solidFill>
                  <a:srgbClr val="212630"/>
                </a:solidFill>
                <a:latin typeface="Calibri"/>
              </a:rPr>
              <a:t>Inference:</a:t>
            </a:r>
            <a:r>
              <a:rPr sz="1400" b="0">
                <a:solidFill>
                  <a:srgbClr val="212630"/>
                </a:solidFill>
                <a:latin typeface="Calibri"/>
              </a:rPr>
              <a:t> compute a proxy resolution with the test aspect ratio but the *training area* (45×80 latent at 720p): d̃ₕ = √(dₕ·d𝓌 · ĥ/ŵ). Window sizes then match training statistics at any output resolution.</a:t>
            </a:r>
          </a:p>
          <a:p>
            <a:pPr>
              <a:spcAft>
                <a:spcPts val="700"/>
              </a:spcAft>
            </a:pPr>
            <a:r>
              <a:rPr sz="1400">
                <a:solidFill>
                  <a:srgbClr val="212630"/>
                </a:solidFill>
              </a:rPr>
              <a:t>▪  </a:t>
            </a:r>
            <a:r>
              <a:rPr sz="1400" b="1">
                <a:solidFill>
                  <a:srgbClr val="212630"/>
                </a:solidFill>
                <a:latin typeface="Calibri"/>
              </a:rPr>
              <a:t>Effect:</a:t>
            </a:r>
            <a:r>
              <a:rPr sz="1400" b="0">
                <a:solidFill>
                  <a:srgbClr val="212630"/>
                </a:solidFill>
                <a:latin typeface="Calibri"/>
              </a:rPr>
              <a:t> boundary artifacts eliminated at 1080p/2K; RoPE robust because it was trained over a *distribution* of window sizes rather than one.</a:t>
            </a:r>
          </a:p>
        </p:txBody>
      </p:sp>
      <p:pic>
        <p:nvPicPr>
          <p:cNvPr id="4" name="Picture 3" descr="seed_fig4_window.png"/>
          <p:cNvPicPr>
            <a:picLocks noChangeAspect="1"/>
          </p:cNvPicPr>
          <p:nvPr/>
        </p:nvPicPr>
        <p:blipFill>
          <a:blip r:embed="rId2"/>
          <a:stretch>
            <a:fillRect/>
          </a:stretch>
        </p:blipFill>
        <p:spPr>
          <a:xfrm>
            <a:off x="1327706" y="3611880"/>
            <a:ext cx="9506108" cy="2880360"/>
          </a:xfrm>
          <a:prstGeom prst="rect">
            <a:avLst/>
          </a:prstGeom>
        </p:spPr>
      </p:pic>
      <p:sp>
        <p:nvSpPr>
          <p:cNvPr id="5" name="TextBox 4"/>
          <p:cNvSpPr txBox="1"/>
          <p:nvPr/>
        </p:nvSpPr>
        <p:spPr>
          <a:xfrm>
            <a:off x="640080" y="6519672"/>
            <a:ext cx="10881360" cy="274320"/>
          </a:xfrm>
          <a:prstGeom prst="rect">
            <a:avLst/>
          </a:prstGeom>
          <a:noFill/>
        </p:spPr>
        <p:txBody>
          <a:bodyPr wrap="none">
            <a:spAutoFit/>
          </a:bodyPr>
          <a:lstStyle/>
          <a:p>
            <a:pPr algn="ctr"/>
            <a:r>
              <a:rPr sz="1000" b="0">
                <a:solidFill>
                  <a:srgbClr val="59616E"/>
                </a:solidFill>
                <a:latin typeface="Calibri"/>
              </a:rPr>
              <a:t>Fig. 4 — predefined windows (left of each pair) show seams and detail loss; adaptive windows fix both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411480"/>
          <a:lstStyle/>
          <a:p>
            <a:pPr algn="ctr"/>
            <a:r>
              <a:rPr sz="2600" b="1">
                <a:solidFill>
                  <a:srgbClr val="FFFFFF"/>
                </a:solidFill>
                <a:latin typeface="Calibri"/>
              </a:rPr>
              <a:t>SeedVR2 — training pipeline and losses</a:t>
            </a:r>
          </a:p>
        </p:txBody>
      </p:sp>
      <p:sp>
        <p:nvSpPr>
          <p:cNvPr id="3" name="TextBox 2"/>
          <p:cNvSpPr txBox="1"/>
          <p:nvPr/>
        </p:nvSpPr>
        <p:spPr>
          <a:xfrm>
            <a:off x="8168335" y="54864"/>
            <a:ext cx="3749039" cy="320040"/>
          </a:xfrm>
          <a:prstGeom prst="rect">
            <a:avLst/>
          </a:prstGeom>
          <a:noFill/>
        </p:spPr>
        <p:txBody>
          <a:bodyPr wrap="none">
            <a:spAutoFit/>
          </a:bodyPr>
          <a:lstStyle/>
          <a:p>
            <a:pPr algn="r"/>
            <a:r>
              <a:rPr sz="1100" b="0">
                <a:solidFill>
                  <a:srgbClr val="E8EAEE"/>
                </a:solidFill>
                <a:latin typeface="Calibri"/>
              </a:rPr>
              <a:t>G loss: RpGAN + L1 + feat-match · D loss: RpGAN + aR1 + aR2</a:t>
            </a:r>
          </a:p>
        </p:txBody>
      </p:sp>
      <p:sp>
        <p:nvSpPr>
          <p:cNvPr id="4" name="TextBox 3"/>
          <p:cNvSpPr txBox="1"/>
          <p:nvPr/>
        </p:nvSpPr>
        <p:spPr>
          <a:xfrm>
            <a:off x="502920" y="1143000"/>
            <a:ext cx="11247120" cy="5394960"/>
          </a:xfrm>
          <a:prstGeom prst="rect">
            <a:avLst/>
          </a:prstGeom>
          <a:noFill/>
        </p:spPr>
        <p:txBody>
          <a:bodyPr wrap="square">
            <a:spAutoFit/>
          </a:bodyPr>
          <a:lstStyle/>
          <a:p>
            <a:pPr>
              <a:spcAft>
                <a:spcPts val="700"/>
              </a:spcAft>
            </a:pPr>
            <a:r>
              <a:rPr sz="1400">
                <a:solidFill>
                  <a:srgbClr val="212630"/>
                </a:solidFill>
              </a:rPr>
              <a:t>▪  </a:t>
            </a:r>
            <a:r>
              <a:rPr sz="1400" b="1">
                <a:solidFill>
                  <a:srgbClr val="212630"/>
                </a:solidFill>
                <a:latin typeface="Calibri"/>
              </a:rPr>
              <a:t>Stage 0:</a:t>
            </a:r>
            <a:r>
              <a:rPr sz="1400" b="0">
                <a:solidFill>
                  <a:srgbClr val="212630"/>
                </a:solidFill>
                <a:latin typeface="Calibri"/>
              </a:rPr>
              <a:t> retrain SeedVR-7B from scratch with adaptive window attention.</a:t>
            </a:r>
          </a:p>
          <a:p>
            <a:pPr>
              <a:spcAft>
                <a:spcPts val="700"/>
              </a:spcAft>
            </a:pPr>
            <a:r>
              <a:rPr sz="1400">
                <a:solidFill>
                  <a:srgbClr val="212630"/>
                </a:solidFill>
              </a:rPr>
              <a:t>▪  </a:t>
            </a:r>
            <a:r>
              <a:rPr sz="1400" b="1">
                <a:solidFill>
                  <a:srgbClr val="212630"/>
                </a:solidFill>
                <a:latin typeface="Calibri"/>
              </a:rPr>
              <a:t>Stage 1 — progressive distillation</a:t>
            </a:r>
            <a:r>
              <a:rPr sz="1400" b="0">
                <a:solidFill>
                  <a:srgbClr val="212630"/>
                </a:solidFill>
                <a:latin typeface="Calibri"/>
              </a:rPr>
              <a:t> (Salimans &amp; Ho): halve sampling steps 64→32→…→1, ~10k iters per halving, plain MSE on the velocity field.</a:t>
            </a:r>
          </a:p>
          <a:p>
            <a:pPr lvl="1">
              <a:spcAft>
                <a:spcPts val="400"/>
              </a:spcAft>
            </a:pPr>
            <a:r>
              <a:rPr sz="1200">
                <a:solidFill>
                  <a:srgbClr val="59616E"/>
                </a:solidFill>
              </a:rPr>
              <a:t>–  </a:t>
            </a:r>
            <a:r>
              <a:rPr sz="1200" b="0">
                <a:solidFill>
                  <a:srgbClr val="59616E"/>
                </a:solidFill>
                <a:latin typeface="Calibri"/>
              </a:rPr>
              <a:t>Needed to preserve restoration under heavy degradation; jumping straight to one-step adversarial training loses it. Clip length grows progressively (images → variable-length videos).</a:t>
            </a:r>
          </a:p>
          <a:p>
            <a:pPr>
              <a:spcAft>
                <a:spcPts val="700"/>
              </a:spcAft>
            </a:pPr>
            <a:r>
              <a:rPr sz="1400">
                <a:solidFill>
                  <a:srgbClr val="212630"/>
                </a:solidFill>
              </a:rPr>
              <a:t>▪  </a:t>
            </a:r>
            <a:r>
              <a:rPr sz="1400" b="1">
                <a:solidFill>
                  <a:srgbClr val="212630"/>
                </a:solidFill>
                <a:latin typeface="Calibri"/>
              </a:rPr>
              <a:t>Stage 2 — adversarial post-training</a:t>
            </a:r>
            <a:r>
              <a:rPr sz="1400" b="0">
                <a:solidFill>
                  <a:srgbClr val="212630"/>
                </a:solidFill>
                <a:latin typeface="Calibri"/>
              </a:rPr>
              <a:t> against real data, with three stabilizers:</a:t>
            </a:r>
          </a:p>
          <a:p>
            <a:pPr lvl="1">
              <a:spcAft>
                <a:spcPts val="400"/>
              </a:spcAft>
            </a:pPr>
            <a:r>
              <a:rPr sz="1200">
                <a:solidFill>
                  <a:srgbClr val="59616E"/>
                </a:solidFill>
              </a:rPr>
              <a:t>–  </a:t>
            </a:r>
            <a:r>
              <a:rPr sz="1200" b="1">
                <a:solidFill>
                  <a:srgbClr val="59616E"/>
                </a:solidFill>
                <a:latin typeface="Calibri"/>
              </a:rPr>
              <a:t>RpGAN</a:t>
            </a:r>
            <a:r>
              <a:rPr sz="1200" b="0">
                <a:solidFill>
                  <a:srgbClr val="59616E"/>
                </a:solidFill>
                <a:latin typeface="Calibri"/>
              </a:rPr>
              <a:t> (relativistic pairing, from R3GAN) instead of non-saturating GAN → avoids mode dropping.</a:t>
            </a:r>
          </a:p>
          <a:p>
            <a:pPr lvl="1">
              <a:spcAft>
                <a:spcPts val="400"/>
              </a:spcAft>
            </a:pPr>
            <a:r>
              <a:rPr sz="1200">
                <a:solidFill>
                  <a:srgbClr val="59616E"/>
                </a:solidFill>
              </a:rPr>
              <a:t>–  </a:t>
            </a:r>
            <a:r>
              <a:rPr sz="1200" b="1">
                <a:solidFill>
                  <a:srgbClr val="59616E"/>
                </a:solidFill>
                <a:latin typeface="Calibri"/>
              </a:rPr>
              <a:t>Approximated R1 + R2</a:t>
            </a:r>
            <a:r>
              <a:rPr sz="1200" b="0">
                <a:solidFill>
                  <a:srgbClr val="59616E"/>
                </a:solidFill>
                <a:latin typeface="Calibri"/>
              </a:rPr>
              <a:t> gradient penalties (weight 1000): penalize discriminator sensitivity to Gaussian perturbations of real/fake inputs — a finite-difference proxy, no double backprop.</a:t>
            </a:r>
          </a:p>
          <a:p>
            <a:pPr lvl="1">
              <a:spcAft>
                <a:spcPts val="400"/>
              </a:spcAft>
            </a:pPr>
            <a:r>
              <a:rPr sz="1200">
                <a:solidFill>
                  <a:srgbClr val="59616E"/>
                </a:solidFill>
              </a:rPr>
              <a:t>–  </a:t>
            </a:r>
            <a:r>
              <a:rPr sz="1200" b="1">
                <a:solidFill>
                  <a:srgbClr val="59616E"/>
                </a:solidFill>
                <a:latin typeface="Calibri"/>
              </a:rPr>
              <a:t>Feature-matching loss:</a:t>
            </a:r>
            <a:r>
              <a:rPr sz="1200" b="0">
                <a:solidFill>
                  <a:srgbClr val="59616E"/>
                </a:solidFill>
                <a:latin typeface="Calibri"/>
              </a:rPr>
              <a:t> L1 between discriminator features (blocks 16/26/36) of prediction vs. GT — LPIPS-like supervision without decoding latents.</a:t>
            </a:r>
          </a:p>
          <a:p>
            <a:pPr>
              <a:spcAft>
                <a:spcPts val="700"/>
              </a:spcAft>
            </a:pPr>
            <a:r>
              <a:rPr sz="1400">
                <a:solidFill>
                  <a:srgbClr val="212630"/>
                </a:solidFill>
              </a:rPr>
              <a:t>▪  </a:t>
            </a:r>
            <a:r>
              <a:rPr sz="1400" b="1">
                <a:solidFill>
                  <a:srgbClr val="212630"/>
                </a:solidFill>
                <a:latin typeface="Calibri"/>
              </a:rPr>
              <a:t>Perception–distortion knob:</a:t>
            </a:r>
            <a:r>
              <a:rPr sz="1400" b="0">
                <a:solidFill>
                  <a:srgbClr val="212630"/>
                </a:solidFill>
                <a:latin typeface="Calibri"/>
              </a:rPr>
              <a:t> final model lowers L1 + feature-matching weights to 0.1 (high weights raise PSNR but over-smooth).</a:t>
            </a:r>
          </a:p>
          <a:p>
            <a:pPr>
              <a:spcAft>
                <a:spcPts val="700"/>
              </a:spcAft>
            </a:pPr>
            <a:r>
              <a:rPr sz="1400">
                <a:solidFill>
                  <a:srgbClr val="212630"/>
                </a:solidFill>
              </a:rPr>
              <a:t>▪  </a:t>
            </a:r>
            <a:r>
              <a:rPr sz="1400" b="1">
                <a:solidFill>
                  <a:srgbClr val="212630"/>
                </a:solidFill>
                <a:latin typeface="Calibri"/>
              </a:rPr>
              <a:t>Scale:</a:t>
            </a:r>
            <a:r>
              <a:rPr sz="1400" b="0">
                <a:solidFill>
                  <a:srgbClr val="212630"/>
                </a:solidFill>
                <a:latin typeface="Calibri"/>
              </a:rPr>
              <a:t> 72× H100-80G; ~10 M image + 5 M video pairs, UAV-style degradation synthesis.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411480"/>
          <a:lstStyle/>
          <a:p>
            <a:pPr algn="ctr"/>
            <a:r>
              <a:rPr sz="2600" b="1">
                <a:solidFill>
                  <a:srgbClr val="FFFFFF"/>
                </a:solidFill>
                <a:latin typeface="Calibri"/>
              </a:rPr>
              <a:t>SeedVR2 — results</a:t>
            </a:r>
          </a:p>
        </p:txBody>
      </p:sp>
      <p:sp>
        <p:nvSpPr>
          <p:cNvPr id="3" name="TextBox 2"/>
          <p:cNvSpPr txBox="1"/>
          <p:nvPr/>
        </p:nvSpPr>
        <p:spPr>
          <a:xfrm>
            <a:off x="502920" y="1143000"/>
            <a:ext cx="11247120" cy="2377440"/>
          </a:xfrm>
          <a:prstGeom prst="rect">
            <a:avLst/>
          </a:prstGeom>
          <a:noFill/>
        </p:spPr>
        <p:txBody>
          <a:bodyPr wrap="square">
            <a:spAutoFit/>
          </a:bodyPr>
          <a:lstStyle/>
          <a:p>
            <a:pPr>
              <a:spcAft>
                <a:spcPts val="700"/>
              </a:spcAft>
            </a:pPr>
            <a:r>
              <a:rPr sz="1500">
                <a:solidFill>
                  <a:srgbClr val="212630"/>
                </a:solidFill>
              </a:rPr>
              <a:t>▪  </a:t>
            </a:r>
            <a:r>
              <a:rPr sz="1500" b="1">
                <a:solidFill>
                  <a:srgbClr val="212630"/>
                </a:solidFill>
                <a:latin typeface="Calibri"/>
              </a:rPr>
              <a:t>Quality (1 step vs. 50-step baselines):</a:t>
            </a:r>
            <a:r>
              <a:rPr sz="1500" b="0">
                <a:solidFill>
                  <a:srgbClr val="212630"/>
                </a:solidFill>
                <a:latin typeface="Calibri"/>
              </a:rPr>
              <a:t> best or 2nd-best perceptual metrics nearly everywhere. UDM10: LPIPS 0.203 / DISTS 0.101 vs. SeedVR-7B-50step 0.264 / 0.124. Best DOVER on real (VideoLQ) and AIGC sets.</a:t>
            </a:r>
          </a:p>
          <a:p>
            <a:pPr>
              <a:spcAft>
                <a:spcPts val="700"/>
              </a:spcAft>
            </a:pPr>
            <a:r>
              <a:rPr sz="1500">
                <a:solidFill>
                  <a:srgbClr val="212630"/>
                </a:solidFill>
              </a:rPr>
              <a:t>▪  </a:t>
            </a:r>
            <a:r>
              <a:rPr sz="1500" b="1">
                <a:solidFill>
                  <a:srgbClr val="212630"/>
                </a:solidFill>
                <a:latin typeface="Calibri"/>
              </a:rPr>
              <a:t>Speed:</a:t>
            </a:r>
            <a:r>
              <a:rPr sz="1500" b="0">
                <a:solidFill>
                  <a:srgbClr val="212630"/>
                </a:solidFill>
                <a:latin typeface="Calibri"/>
              </a:rPr>
              <a:t> 100 frames at 768×1344 — Ours-3B 269 s, Ours-7B 299 s vs. 1285 s (UAV, SeedVR-50) and 2326 s (STAR) → </a:t>
            </a:r>
            <a:r>
              <a:rPr sz="1500" b="1">
                <a:solidFill>
                  <a:srgbClr val="212630"/>
                </a:solidFill>
                <a:latin typeface="Calibri"/>
              </a:rPr>
              <a:t>&gt;4× faster with ≥4× more parameters</a:t>
            </a:r>
            <a:r>
              <a:rPr sz="1500" b="0">
                <a:solidFill>
                  <a:srgbClr val="212630"/>
                </a:solidFill>
                <a:latin typeface="Calibri"/>
              </a:rPr>
              <a:t>.</a:t>
            </a:r>
          </a:p>
          <a:p>
            <a:pPr>
              <a:spcAft>
                <a:spcPts val="700"/>
              </a:spcAft>
            </a:pPr>
            <a:r>
              <a:rPr sz="1500">
                <a:solidFill>
                  <a:srgbClr val="212630"/>
                </a:solidFill>
              </a:rPr>
              <a:t>▪  </a:t>
            </a:r>
            <a:r>
              <a:rPr sz="1500" b="1">
                <a:solidFill>
                  <a:srgbClr val="212630"/>
                </a:solidFill>
                <a:latin typeface="Calibri"/>
              </a:rPr>
              <a:t>User study (GSB):</a:t>
            </a:r>
            <a:r>
              <a:rPr sz="1500" b="0">
                <a:solidFill>
                  <a:srgbClr val="212630"/>
                </a:solidFill>
                <a:latin typeface="Calibri"/>
              </a:rPr>
              <a:t> 3B preferred over 7B (+16%); all multi-step baselines strongly rejected (VEnhancer −94%).</a:t>
            </a:r>
          </a:p>
          <a:p>
            <a:pPr>
              <a:spcAft>
                <a:spcPts val="700"/>
              </a:spcAft>
            </a:pPr>
            <a:r>
              <a:rPr sz="1500">
                <a:solidFill>
                  <a:srgbClr val="212630"/>
                </a:solidFill>
              </a:rPr>
              <a:t>▪  </a:t>
            </a:r>
            <a:r>
              <a:rPr sz="1500" b="1">
                <a:solidFill>
                  <a:srgbClr val="212630"/>
                </a:solidFill>
                <a:latin typeface="Calibri"/>
              </a:rPr>
              <a:t>But:</a:t>
            </a:r>
            <a:r>
              <a:rPr sz="1500" b="0">
                <a:solidFill>
                  <a:srgbClr val="212630"/>
                </a:solidFill>
                <a:latin typeface="Calibri"/>
              </a:rPr>
              <a:t> PSNR is not SOTA (RealViformer/MGLD-VSR lead — both trained on REDS); bicubic wins warping error, which the authors use to argue E*warp is a broken metric for generative VR.</a:t>
            </a:r>
          </a:p>
          <a:p>
            <a:pPr>
              <a:spcAft>
                <a:spcPts val="700"/>
              </a:spcAft>
            </a:pPr>
            <a:r>
              <a:rPr sz="1500">
                <a:solidFill>
                  <a:srgbClr val="212630"/>
                </a:solidFill>
              </a:rPr>
              <a:t>▪  </a:t>
            </a:r>
            <a:r>
              <a:rPr sz="1500" b="1">
                <a:solidFill>
                  <a:srgbClr val="212630"/>
                </a:solidFill>
                <a:latin typeface="Calibri"/>
              </a:rPr>
              <a:t>Hidden caveat:</a:t>
            </a:r>
            <a:r>
              <a:rPr sz="1500" b="0">
                <a:solidFill>
                  <a:srgbClr val="212630"/>
                </a:solidFill>
                <a:latin typeface="Calibri"/>
              </a:rPr>
              <a:t> with a 1-step DiT, the causal video VAE now takes </a:t>
            </a:r>
            <a:r>
              <a:rPr sz="1500" b="1">
                <a:solidFill>
                  <a:srgbClr val="212630"/>
                </a:solidFill>
                <a:latin typeface="Calibri"/>
              </a:rPr>
              <a:t>&gt;95% of runtime</a:t>
            </a:r>
            <a:r>
              <a:rPr sz="1500" b="0">
                <a:solidFill>
                  <a:srgbClr val="212630"/>
                </a:solidFill>
                <a:latin typeface="Calibri"/>
              </a:rPr>
              <a:t>.</a:t>
            </a:r>
          </a:p>
        </p:txBody>
      </p:sp>
      <p:pic>
        <p:nvPicPr>
          <p:cNvPr id="4" name="Picture 3" descr="seed_tab3_abl.png"/>
          <p:cNvPicPr>
            <a:picLocks noChangeAspect="1"/>
          </p:cNvPicPr>
          <p:nvPr/>
        </p:nvPicPr>
        <p:blipFill>
          <a:blip r:embed="rId2"/>
          <a:stretch>
            <a:fillRect/>
          </a:stretch>
        </p:blipFill>
        <p:spPr>
          <a:xfrm>
            <a:off x="640080" y="3611880"/>
            <a:ext cx="10881360" cy="2844111"/>
          </a:xfrm>
          <a:prstGeom prst="rect">
            <a:avLst/>
          </a:prstGeom>
        </p:spPr>
      </p:pic>
      <p:sp>
        <p:nvSpPr>
          <p:cNvPr id="5" name="TextBox 4"/>
          <p:cNvSpPr txBox="1"/>
          <p:nvPr/>
        </p:nvSpPr>
        <p:spPr>
          <a:xfrm>
            <a:off x="640080" y="6483423"/>
            <a:ext cx="10881360" cy="274320"/>
          </a:xfrm>
          <a:prstGeom prst="rect">
            <a:avLst/>
          </a:prstGeom>
          <a:noFill/>
        </p:spPr>
        <p:txBody>
          <a:bodyPr wrap="none">
            <a:spAutoFit/>
          </a:bodyPr>
          <a:lstStyle/>
          <a:p>
            <a:pPr algn="ctr"/>
            <a:r>
              <a:rPr sz="1000" b="0">
                <a:solidFill>
                  <a:srgbClr val="59616E"/>
                </a:solidFill>
                <a:latin typeface="Calibri"/>
              </a:rPr>
              <a:t>Table 3 — loss ablation on YouHQ40 (20k iters): RpGAN+R2 is the biggest jump; feature matching and progressive training add fidelity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411480"/>
          <a:lstStyle/>
          <a:p>
            <a:pPr algn="ctr"/>
            <a:r>
              <a:rPr sz="2600" b="1">
                <a:solidFill>
                  <a:srgbClr val="FFFFFF"/>
                </a:solidFill>
                <a:latin typeface="Calibri"/>
              </a:rPr>
              <a:t>SeedVR2 — takeaways and limitations</a:t>
            </a:r>
          </a:p>
        </p:txBody>
      </p:sp>
      <p:sp>
        <p:nvSpPr>
          <p:cNvPr id="3" name="TextBox 2"/>
          <p:cNvSpPr txBox="1"/>
          <p:nvPr/>
        </p:nvSpPr>
        <p:spPr>
          <a:xfrm>
            <a:off x="502920" y="1143000"/>
            <a:ext cx="11247120" cy="5394960"/>
          </a:xfrm>
          <a:prstGeom prst="rect">
            <a:avLst/>
          </a:prstGeom>
          <a:noFill/>
        </p:spPr>
        <p:txBody>
          <a:bodyPr wrap="square">
            <a:spAutoFit/>
          </a:bodyPr>
          <a:lstStyle/>
          <a:p>
            <a:pPr>
              <a:spcAft>
                <a:spcPts val="700"/>
              </a:spcAft>
            </a:pPr>
            <a:r>
              <a:rPr sz="1500">
                <a:solidFill>
                  <a:srgbClr val="212630"/>
                </a:solidFill>
              </a:rPr>
              <a:t>▪  </a:t>
            </a:r>
            <a:r>
              <a:rPr sz="1500" b="1">
                <a:solidFill>
                  <a:srgbClr val="212630"/>
                </a:solidFill>
                <a:latin typeface="Calibri"/>
              </a:rPr>
              <a:t>Takeaways</a:t>
            </a:r>
          </a:p>
          <a:p>
            <a:pPr lvl="1">
              <a:spcAft>
                <a:spcPts val="400"/>
              </a:spcAft>
            </a:pPr>
            <a:r>
              <a:rPr sz="1300">
                <a:solidFill>
                  <a:srgbClr val="59616E"/>
                </a:solidFill>
              </a:rPr>
              <a:t>–  </a:t>
            </a:r>
            <a:r>
              <a:rPr sz="1300" b="0">
                <a:solidFill>
                  <a:srgbClr val="59616E"/>
                </a:solidFill>
                <a:latin typeface="Calibri"/>
              </a:rPr>
              <a:t>Adversarial post-training against real data removes the distillation ceiling: the 1-step student beats its 50-step initialization on perceptual metrics, and beats pure progressive distillation at equal iterations (VideoLQ: DOVER 8.18 vs. 6.61).</a:t>
            </a:r>
          </a:p>
          <a:p>
            <a:pPr lvl="1">
              <a:spcAft>
                <a:spcPts val="400"/>
              </a:spcAft>
            </a:pPr>
            <a:r>
              <a:rPr sz="1300">
                <a:solidFill>
                  <a:srgbClr val="59616E"/>
                </a:solidFill>
              </a:rPr>
              <a:t>–  </a:t>
            </a:r>
            <a:r>
              <a:rPr sz="1300" b="0">
                <a:solidFill>
                  <a:srgbClr val="59616E"/>
                </a:solidFill>
                <a:latin typeface="Calibri"/>
              </a:rPr>
              <a:t>Positional-encoding robustness comes from *training-time diversity* of window geometry — a data/statistics fix, not an architecture fix.</a:t>
            </a:r>
          </a:p>
          <a:p>
            <a:pPr lvl="1">
              <a:spcAft>
                <a:spcPts val="400"/>
              </a:spcAft>
            </a:pPr>
            <a:r>
              <a:rPr sz="1300">
                <a:solidFill>
                  <a:srgbClr val="59616E"/>
                </a:solidFill>
              </a:rPr>
              <a:t>–  </a:t>
            </a:r>
            <a:r>
              <a:rPr sz="1300" b="0">
                <a:solidFill>
                  <a:srgbClr val="59616E"/>
                </a:solidFill>
                <a:latin typeface="Calibri"/>
              </a:rPr>
              <a:t>Multi-step baselines collapse below ~25 steps — one-step cannot be reached by simply reducing steps; the training recipe is essential.</a:t>
            </a:r>
          </a:p>
          <a:p>
            <a:pPr>
              <a:spcAft>
                <a:spcPts val="700"/>
              </a:spcAft>
            </a:pPr>
            <a:r>
              <a:rPr sz="1500">
                <a:solidFill>
                  <a:srgbClr val="212630"/>
                </a:solidFill>
              </a:rPr>
              <a:t>▪  </a:t>
            </a:r>
            <a:r>
              <a:rPr sz="1500" b="1">
                <a:solidFill>
                  <a:srgbClr val="212630"/>
                </a:solidFill>
                <a:latin typeface="Calibri"/>
              </a:rPr>
              <a:t>Limitations (authors')</a:t>
            </a:r>
          </a:p>
          <a:p>
            <a:pPr lvl="1">
              <a:spcAft>
                <a:spcPts val="400"/>
              </a:spcAft>
            </a:pPr>
            <a:r>
              <a:rPr sz="1300">
                <a:solidFill>
                  <a:srgbClr val="59616E"/>
                </a:solidFill>
              </a:rPr>
              <a:t>–  </a:t>
            </a:r>
            <a:r>
              <a:rPr sz="1300" b="0">
                <a:solidFill>
                  <a:srgbClr val="59616E"/>
                </a:solidFill>
                <a:latin typeface="Calibri"/>
              </a:rPr>
              <a:t>Causal video VAE is &gt;4× slower than baselines' VAEs → dominates runtime.</a:t>
            </a:r>
          </a:p>
          <a:p>
            <a:pPr lvl="1">
              <a:spcAft>
                <a:spcPts val="400"/>
              </a:spcAft>
            </a:pPr>
            <a:r>
              <a:rPr sz="1300">
                <a:solidFill>
                  <a:srgbClr val="59616E"/>
                </a:solidFill>
              </a:rPr>
              <a:t>–  </a:t>
            </a:r>
            <a:r>
              <a:rPr sz="1300" b="0">
                <a:solidFill>
                  <a:srgbClr val="59616E"/>
                </a:solidFill>
                <a:latin typeface="Calibri"/>
              </a:rPr>
              <a:t>Not robust to heavy degradation and large motions.</a:t>
            </a:r>
          </a:p>
          <a:p>
            <a:pPr lvl="1">
              <a:spcAft>
                <a:spcPts val="400"/>
              </a:spcAft>
            </a:pPr>
            <a:r>
              <a:rPr sz="1300">
                <a:solidFill>
                  <a:srgbClr val="59616E"/>
                </a:solidFill>
              </a:rPr>
              <a:t>–  </a:t>
            </a:r>
            <a:r>
              <a:rPr sz="1300" b="0">
                <a:solidFill>
                  <a:srgbClr val="59616E"/>
                </a:solidFill>
                <a:latin typeface="Calibri"/>
              </a:rPr>
              <a:t>Over-sharpens lightly-degraded input (e.g., clean AIGC video); no performance lower bound.</a:t>
            </a:r>
          </a:p>
          <a:p>
            <a:pPr>
              <a:spcAft>
                <a:spcPts val="700"/>
              </a:spcAft>
            </a:pPr>
            <a:r>
              <a:rPr sz="1500">
                <a:solidFill>
                  <a:srgbClr val="212630"/>
                </a:solidFill>
              </a:rPr>
              <a:t>▪  </a:t>
            </a:r>
            <a:r>
              <a:rPr sz="1500" b="1">
                <a:solidFill>
                  <a:srgbClr val="212630"/>
                </a:solidFill>
                <a:latin typeface="Calibri"/>
              </a:rPr>
              <a:t>Our reading:</a:t>
            </a:r>
            <a:r>
              <a:rPr sz="1500" b="0">
                <a:solidFill>
                  <a:srgbClr val="212630"/>
                </a:solidFill>
                <a:latin typeface="Calibri"/>
              </a:rPr>
              <a:t> temporal attention is still windowed (≤30 latent frames) — no global temporal memory, and chunked offline inference; nothing here addresses minute-long consistency.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C25A11"/>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411480"/>
          <a:lstStyle/>
          <a:p>
            <a:pPr algn="ctr"/>
            <a:r>
              <a:rPr sz="2600" b="1">
                <a:solidFill>
                  <a:srgbClr val="FFFFFF"/>
                </a:solidFill>
                <a:latin typeface="Calibri"/>
              </a:rPr>
              <a:t>FlashVSR — problem and core idea</a:t>
            </a:r>
          </a:p>
        </p:txBody>
      </p:sp>
      <p:sp>
        <p:nvSpPr>
          <p:cNvPr id="3" name="TextBox 2"/>
          <p:cNvSpPr txBox="1"/>
          <p:nvPr/>
        </p:nvSpPr>
        <p:spPr>
          <a:xfrm>
            <a:off x="8168335" y="54864"/>
            <a:ext cx="3749039" cy="320040"/>
          </a:xfrm>
          <a:prstGeom prst="rect">
            <a:avLst/>
          </a:prstGeom>
          <a:noFill/>
        </p:spPr>
        <p:txBody>
          <a:bodyPr wrap="none">
            <a:spAutoFit/>
          </a:bodyPr>
          <a:lstStyle/>
          <a:p>
            <a:pPr algn="r"/>
            <a:r>
              <a:rPr sz="1100" b="0">
                <a:solidFill>
                  <a:srgbClr val="E8EAEE"/>
                </a:solidFill>
                <a:latin typeface="Calibri"/>
              </a:rPr>
              <a:t>Zhuang et al., Tsinghua + Shanghai AI Lab</a:t>
            </a:r>
          </a:p>
        </p:txBody>
      </p:sp>
      <p:sp>
        <p:nvSpPr>
          <p:cNvPr id="4" name="TextBox 3"/>
          <p:cNvSpPr txBox="1"/>
          <p:nvPr/>
        </p:nvSpPr>
        <p:spPr>
          <a:xfrm>
            <a:off x="502920" y="1143000"/>
            <a:ext cx="6675120" cy="5394960"/>
          </a:xfrm>
          <a:prstGeom prst="rect">
            <a:avLst/>
          </a:prstGeom>
          <a:noFill/>
        </p:spPr>
        <p:txBody>
          <a:bodyPr wrap="square">
            <a:spAutoFit/>
          </a:bodyPr>
          <a:lstStyle/>
          <a:p>
            <a:pPr>
              <a:spcAft>
                <a:spcPts val="700"/>
              </a:spcAft>
            </a:pPr>
            <a:r>
              <a:rPr sz="1400">
                <a:solidFill>
                  <a:srgbClr val="212630"/>
                </a:solidFill>
              </a:rPr>
              <a:t>▪  </a:t>
            </a:r>
            <a:r>
              <a:rPr sz="1400" b="1">
                <a:solidFill>
                  <a:srgbClr val="212630"/>
                </a:solidFill>
                <a:latin typeface="Calibri"/>
              </a:rPr>
              <a:t>Three obstacles to practical diffusion VSR:</a:t>
            </a:r>
          </a:p>
          <a:p>
            <a:pPr lvl="1">
              <a:spcAft>
                <a:spcPts val="400"/>
              </a:spcAft>
            </a:pPr>
            <a:r>
              <a:rPr sz="1200">
                <a:solidFill>
                  <a:srgbClr val="59616E"/>
                </a:solidFill>
              </a:rPr>
              <a:t>–  </a:t>
            </a:r>
            <a:r>
              <a:rPr sz="1200" b="1">
                <a:solidFill>
                  <a:srgbClr val="59616E"/>
                </a:solidFill>
                <a:latin typeface="Calibri"/>
              </a:rPr>
              <a:t>Lookahead latency:</a:t>
            </a:r>
            <a:r>
              <a:rPr sz="1200" b="0">
                <a:solidFill>
                  <a:srgbClr val="59616E"/>
                </a:solidFill>
                <a:latin typeface="Calibri"/>
              </a:rPr>
              <a:t> chunk-based methods emit nothing until the whole 80–101-frame chunk finishes.</a:t>
            </a:r>
          </a:p>
          <a:p>
            <a:pPr lvl="1">
              <a:spcAft>
                <a:spcPts val="400"/>
              </a:spcAft>
            </a:pPr>
            <a:r>
              <a:rPr sz="1200">
                <a:solidFill>
                  <a:srgbClr val="59616E"/>
                </a:solidFill>
              </a:rPr>
              <a:t>–  </a:t>
            </a:r>
            <a:r>
              <a:rPr sz="1200" b="1">
                <a:solidFill>
                  <a:srgbClr val="59616E"/>
                </a:solidFill>
                <a:latin typeface="Calibri"/>
              </a:rPr>
              <a:t>Quadratic dense 3D attention</a:t>
            </a:r>
            <a:r>
              <a:rPr sz="1200" b="0">
                <a:solidFill>
                  <a:srgbClr val="59616E"/>
                </a:solidFill>
                <a:latin typeface="Calibri"/>
              </a:rPr>
              <a:t> over long high-res sequences.</a:t>
            </a:r>
          </a:p>
          <a:p>
            <a:pPr lvl="1">
              <a:spcAft>
                <a:spcPts val="400"/>
              </a:spcAft>
            </a:pPr>
            <a:r>
              <a:rPr sz="1200">
                <a:solidFill>
                  <a:srgbClr val="59616E"/>
                </a:solidFill>
              </a:rPr>
              <a:t>–  </a:t>
            </a:r>
            <a:r>
              <a:rPr sz="1200" b="1">
                <a:solidFill>
                  <a:srgbClr val="59616E"/>
                </a:solidFill>
                <a:latin typeface="Calibri"/>
              </a:rPr>
              <a:t>Train–test resolution gap:</a:t>
            </a:r>
            <a:r>
              <a:rPr sz="1200" b="0">
                <a:solidFill>
                  <a:srgbClr val="59616E"/>
                </a:solidFill>
                <a:latin typeface="Calibri"/>
              </a:rPr>
              <a:t> models trained at ~720p produce repeated patterns / blur at 1440p+.</a:t>
            </a:r>
          </a:p>
          <a:p>
            <a:pPr>
              <a:spcAft>
                <a:spcPts val="700"/>
              </a:spcAft>
            </a:pPr>
            <a:r>
              <a:rPr sz="1400">
                <a:solidFill>
                  <a:srgbClr val="212630"/>
                </a:solidFill>
              </a:rPr>
              <a:t>▪  </a:t>
            </a:r>
            <a:r>
              <a:rPr sz="1400" b="1">
                <a:solidFill>
                  <a:srgbClr val="212630"/>
                </a:solidFill>
                <a:latin typeface="Calibri"/>
              </a:rPr>
              <a:t>Key insight:</a:t>
            </a:r>
            <a:r>
              <a:rPr sz="1400" b="0">
                <a:solidFill>
                  <a:srgbClr val="212630"/>
                </a:solidFill>
                <a:latin typeface="Calibri"/>
              </a:rPr>
              <a:t> VSR is strongly conditioned on the LR stream — plausible motion comes from the input, so the model does </a:t>
            </a:r>
            <a:r>
              <a:rPr sz="1400" b="1">
                <a:solidFill>
                  <a:srgbClr val="212630"/>
                </a:solidFill>
                <a:latin typeface="Calibri"/>
              </a:rPr>
              <a:t>not</a:t>
            </a:r>
            <a:r>
              <a:rPr sz="1400" b="0">
                <a:solidFill>
                  <a:srgbClr val="212630"/>
                </a:solidFill>
                <a:latin typeface="Calibri"/>
              </a:rPr>
              <a:t> need its own past predictions as input.</a:t>
            </a:r>
          </a:p>
          <a:p>
            <a:pPr lvl="1">
              <a:spcAft>
                <a:spcPts val="400"/>
              </a:spcAft>
            </a:pPr>
            <a:r>
              <a:rPr sz="1200">
                <a:solidFill>
                  <a:srgbClr val="59616E"/>
                </a:solidFill>
              </a:rPr>
              <a:t>–  </a:t>
            </a:r>
            <a:r>
              <a:rPr sz="1200" b="0">
                <a:solidFill>
                  <a:srgbClr val="59616E"/>
                </a:solidFill>
                <a:latin typeface="Calibri"/>
              </a:rPr>
              <a:t>→ no teacher/self forcing; fully </a:t>
            </a:r>
            <a:r>
              <a:rPr sz="1200" b="1">
                <a:solidFill>
                  <a:srgbClr val="59616E"/>
                </a:solidFill>
                <a:latin typeface="Calibri"/>
              </a:rPr>
              <a:t>parallel</a:t>
            </a:r>
            <a:r>
              <a:rPr sz="1200" b="0">
                <a:solidFill>
                  <a:srgbClr val="59616E"/>
                </a:solidFill>
                <a:latin typeface="Calibri"/>
              </a:rPr>
              <a:t> training that exactly matches causal streaming inference (inputs are only LR + noise in both).</a:t>
            </a:r>
          </a:p>
          <a:p>
            <a:pPr>
              <a:spcAft>
                <a:spcPts val="700"/>
              </a:spcAft>
            </a:pPr>
            <a:r>
              <a:rPr sz="1400">
                <a:solidFill>
                  <a:srgbClr val="212630"/>
                </a:solidFill>
              </a:rPr>
              <a:t>▪  </a:t>
            </a:r>
            <a:r>
              <a:rPr sz="1400" b="1">
                <a:solidFill>
                  <a:srgbClr val="212630"/>
                </a:solidFill>
                <a:latin typeface="Calibri"/>
              </a:rPr>
              <a:t>Result:</a:t>
            </a:r>
            <a:r>
              <a:rPr sz="1400" b="0">
                <a:solidFill>
                  <a:srgbClr val="212630"/>
                </a:solidFill>
                <a:latin typeface="Calibri"/>
              </a:rPr>
              <a:t> one-step, causal, streaming DiT — </a:t>
            </a:r>
            <a:r>
              <a:rPr sz="1400" b="1">
                <a:solidFill>
                  <a:srgbClr val="212630"/>
                </a:solidFill>
                <a:latin typeface="Calibri"/>
              </a:rPr>
              <a:t>~17 FPS at 768×1408 on one A100</a:t>
            </a:r>
            <a:r>
              <a:rPr sz="1400" b="0">
                <a:solidFill>
                  <a:srgbClr val="212630"/>
                </a:solidFill>
                <a:latin typeface="Calibri"/>
              </a:rPr>
              <a:t>, 8-frame lookahead, constant memory; 11.8× faster than SeedVR2-3B.</a:t>
            </a:r>
          </a:p>
        </p:txBody>
      </p:sp>
      <p:pic>
        <p:nvPicPr>
          <p:cNvPr id="5" name="Picture 4" descr="flash_fig1_hero.png"/>
          <p:cNvPicPr>
            <a:picLocks noChangeAspect="1"/>
          </p:cNvPicPr>
          <p:nvPr/>
        </p:nvPicPr>
        <p:blipFill>
          <a:blip r:embed="rId2"/>
          <a:stretch>
            <a:fillRect/>
          </a:stretch>
        </p:blipFill>
        <p:spPr>
          <a:xfrm>
            <a:off x="7360920" y="1463040"/>
            <a:ext cx="4510735" cy="2564176"/>
          </a:xfrm>
          <a:prstGeom prst="rect">
            <a:avLst/>
          </a:prstGeom>
        </p:spPr>
      </p:pic>
      <p:sp>
        <p:nvSpPr>
          <p:cNvPr id="6" name="TextBox 5"/>
          <p:cNvSpPr txBox="1"/>
          <p:nvPr/>
        </p:nvSpPr>
        <p:spPr>
          <a:xfrm>
            <a:off x="7360920" y="4054648"/>
            <a:ext cx="4510735" cy="274320"/>
          </a:xfrm>
          <a:prstGeom prst="rect">
            <a:avLst/>
          </a:prstGeom>
          <a:noFill/>
        </p:spPr>
        <p:txBody>
          <a:bodyPr wrap="none">
            <a:spAutoFit/>
          </a:bodyPr>
          <a:lstStyle/>
          <a:p>
            <a:pPr algn="ctr"/>
            <a:r>
              <a:rPr sz="1000" b="0">
                <a:solidFill>
                  <a:srgbClr val="59616E"/>
                </a:solidFill>
                <a:latin typeface="Calibri"/>
              </a:rPr>
              <a:t>Fig. 1 — quality vs. FPS at 768×1408; scales to 1440p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C25A11"/>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411480"/>
          <a:lstStyle/>
          <a:p>
            <a:pPr algn="ctr"/>
            <a:r>
              <a:rPr sz="2600" b="1">
                <a:solidFill>
                  <a:srgbClr val="FFFFFF"/>
                </a:solidFill>
                <a:latin typeface="Calibri"/>
              </a:rPr>
              <a:t>FlashVSR — three-stage training pipeline</a:t>
            </a:r>
          </a:p>
        </p:txBody>
      </p:sp>
      <p:sp>
        <p:nvSpPr>
          <p:cNvPr id="3" name="TextBox 2"/>
          <p:cNvSpPr txBox="1"/>
          <p:nvPr/>
        </p:nvSpPr>
        <p:spPr>
          <a:xfrm>
            <a:off x="502920" y="1143000"/>
            <a:ext cx="11247120" cy="2377440"/>
          </a:xfrm>
          <a:prstGeom prst="rect">
            <a:avLst/>
          </a:prstGeom>
          <a:noFill/>
        </p:spPr>
        <p:txBody>
          <a:bodyPr wrap="square">
            <a:spAutoFit/>
          </a:bodyPr>
          <a:lstStyle/>
          <a:p>
            <a:pPr>
              <a:spcAft>
                <a:spcPts val="700"/>
              </a:spcAft>
            </a:pPr>
            <a:r>
              <a:rPr sz="1300">
                <a:solidFill>
                  <a:srgbClr val="212630"/>
                </a:solidFill>
              </a:rPr>
              <a:t>▪  </a:t>
            </a:r>
            <a:r>
              <a:rPr sz="1300" b="1">
                <a:solidFill>
                  <a:srgbClr val="212630"/>
                </a:solidFill>
                <a:latin typeface="Calibri"/>
              </a:rPr>
              <a:t>Base:</a:t>
            </a:r>
            <a:r>
              <a:rPr sz="1300" b="0">
                <a:solidFill>
                  <a:srgbClr val="212630"/>
                </a:solidFill>
                <a:latin typeface="Calibri"/>
              </a:rPr>
              <a:t> Wan 2.1–1.3B video DiT + LoRA (rank 384). LR enters via a </a:t>
            </a:r>
            <a:r>
              <a:rPr sz="1300" b="1">
                <a:solidFill>
                  <a:srgbClr val="212630"/>
                </a:solidFill>
                <a:latin typeface="Calibri"/>
              </a:rPr>
              <a:t>causal LR Projection-In layer</a:t>
            </a:r>
            <a:r>
              <a:rPr sz="1300" b="0">
                <a:solidFill>
                  <a:srgbClr val="212630"/>
                </a:solidFill>
                <a:latin typeface="Calibri"/>
              </a:rPr>
              <a:t> (pixel-shuffle 8× + causal 3D convs + MLP, added to latent tokens) — no VAE encoding of the input; a fixed quality prompt makes cross-attention K/V a one-time cost.</a:t>
            </a:r>
          </a:p>
          <a:p>
            <a:pPr>
              <a:spcAft>
                <a:spcPts val="700"/>
              </a:spcAft>
            </a:pPr>
            <a:r>
              <a:rPr sz="1300">
                <a:solidFill>
                  <a:srgbClr val="212630"/>
                </a:solidFill>
              </a:rPr>
              <a:t>▪  </a:t>
            </a:r>
            <a:r>
              <a:rPr sz="1300" b="1">
                <a:solidFill>
                  <a:srgbClr val="212630"/>
                </a:solidFill>
                <a:latin typeface="Calibri"/>
              </a:rPr>
              <a:t>Stage 1 — joint image+video SR teacher:</a:t>
            </a:r>
            <a:r>
              <a:rPr sz="1300" b="0">
                <a:solidFill>
                  <a:srgbClr val="212630"/>
                </a:solidFill>
                <a:latin typeface="Calibri"/>
              </a:rPr>
              <a:t> full attention, flow matching; images packed with videos via a block-diagonal segment mask.</a:t>
            </a:r>
          </a:p>
          <a:p>
            <a:pPr>
              <a:spcAft>
                <a:spcPts val="700"/>
              </a:spcAft>
            </a:pPr>
            <a:r>
              <a:rPr sz="1300">
                <a:solidFill>
                  <a:srgbClr val="212630"/>
                </a:solidFill>
              </a:rPr>
              <a:t>▪  </a:t>
            </a:r>
            <a:r>
              <a:rPr sz="1300" b="1">
                <a:solidFill>
                  <a:srgbClr val="212630"/>
                </a:solidFill>
                <a:latin typeface="Calibri"/>
              </a:rPr>
              <a:t>Stage 2 — block-sparse causal adaptation:</a:t>
            </a:r>
            <a:r>
              <a:rPr sz="1300" b="0">
                <a:solidFill>
                  <a:srgbClr val="212630"/>
                </a:solidFill>
                <a:latin typeface="Calibri"/>
              </a:rPr>
              <a:t> convert to causal masking + block-sparse attention, keep training with flow matching.</a:t>
            </a:r>
          </a:p>
          <a:p>
            <a:pPr>
              <a:spcAft>
                <a:spcPts val="700"/>
              </a:spcAft>
            </a:pPr>
            <a:r>
              <a:rPr sz="1300">
                <a:solidFill>
                  <a:srgbClr val="212630"/>
                </a:solidFill>
              </a:rPr>
              <a:t>▪  </a:t>
            </a:r>
            <a:r>
              <a:rPr sz="1300" b="1">
                <a:solidFill>
                  <a:srgbClr val="212630"/>
                </a:solidFill>
                <a:latin typeface="Calibri"/>
              </a:rPr>
              <a:t>Stage 3 — one-step distillation (DMD):</a:t>
            </a:r>
            <a:r>
              <a:rPr sz="1300" b="0">
                <a:solidFill>
                  <a:srgbClr val="212630"/>
                </a:solidFill>
                <a:latin typeface="Calibri"/>
              </a:rPr>
              <a:t> Stage-1 model = frozen real-score teacher; loss = DMD + flow-matching (fake-score net) + pixel MSE + 2·LPIPS. All frames trained in parallel at a unified timestep.</a:t>
            </a:r>
          </a:p>
          <a:p>
            <a:pPr>
              <a:spcAft>
                <a:spcPts val="700"/>
              </a:spcAft>
            </a:pPr>
            <a:r>
              <a:rPr sz="1300">
                <a:solidFill>
                  <a:srgbClr val="212630"/>
                </a:solidFill>
              </a:rPr>
              <a:t>▪  </a:t>
            </a:r>
            <a:r>
              <a:rPr sz="1300" b="1">
                <a:solidFill>
                  <a:srgbClr val="212630"/>
                </a:solidFill>
                <a:latin typeface="Calibri"/>
              </a:rPr>
              <a:t>Data — VSR-120K:</a:t>
            </a:r>
            <a:r>
              <a:rPr sz="1300" b="0">
                <a:solidFill>
                  <a:srgbClr val="212630"/>
                </a:solidFill>
                <a:latin typeface="Calibri"/>
              </a:rPr>
              <a:t> 120k videos (avg &gt;350 frames) + 180k images, filtered by LAION-Aesthetic + MUSIQ + RAFT motion; RealBasicVSR degradations. 32× A100, ~5 days total.</a:t>
            </a:r>
          </a:p>
        </p:txBody>
      </p:sp>
      <p:pic>
        <p:nvPicPr>
          <p:cNvPr id="4" name="Picture 3" descr="flash_fig2_pipe.png"/>
          <p:cNvPicPr>
            <a:picLocks noChangeAspect="1"/>
          </p:cNvPicPr>
          <p:nvPr/>
        </p:nvPicPr>
        <p:blipFill>
          <a:blip r:embed="rId2"/>
          <a:stretch>
            <a:fillRect/>
          </a:stretch>
        </p:blipFill>
        <p:spPr>
          <a:xfrm>
            <a:off x="3339609" y="3611880"/>
            <a:ext cx="5482302" cy="2880360"/>
          </a:xfrm>
          <a:prstGeom prst="rect">
            <a:avLst/>
          </a:prstGeom>
        </p:spPr>
      </p:pic>
      <p:sp>
        <p:nvSpPr>
          <p:cNvPr id="5" name="TextBox 4"/>
          <p:cNvSpPr txBox="1"/>
          <p:nvPr/>
        </p:nvSpPr>
        <p:spPr>
          <a:xfrm>
            <a:off x="640080" y="6519672"/>
            <a:ext cx="10881360" cy="274320"/>
          </a:xfrm>
          <a:prstGeom prst="rect">
            <a:avLst/>
          </a:prstGeom>
          <a:noFill/>
        </p:spPr>
        <p:txBody>
          <a:bodyPr wrap="none">
            <a:spAutoFit/>
          </a:bodyPr>
          <a:lstStyle/>
          <a:p>
            <a:pPr algn="ctr"/>
            <a:r>
              <a:rPr sz="1000" b="0">
                <a:solidFill>
                  <a:srgbClr val="59616E"/>
                </a:solidFill>
                <a:latin typeface="Calibri"/>
              </a:rPr>
              <a:t>Fig. 2 — Stage 1 full-attention teacher → Stage 2 sparse-causal adaptation → Stage 3 DMD one-step distillation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C25A11"/>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411480"/>
          <a:lstStyle/>
          <a:p>
            <a:pPr algn="ctr"/>
            <a:r>
              <a:rPr sz="2600" b="1">
                <a:solidFill>
                  <a:srgbClr val="FFFFFF"/>
                </a:solidFill>
                <a:latin typeface="Calibri"/>
              </a:rPr>
              <a:t>FlashVSR — sparse + locality-constrained attention</a:t>
            </a:r>
          </a:p>
        </p:txBody>
      </p:sp>
      <p:sp>
        <p:nvSpPr>
          <p:cNvPr id="3" name="TextBox 2"/>
          <p:cNvSpPr txBox="1"/>
          <p:nvPr/>
        </p:nvSpPr>
        <p:spPr>
          <a:xfrm>
            <a:off x="502920" y="1143000"/>
            <a:ext cx="11247120" cy="2377440"/>
          </a:xfrm>
          <a:prstGeom prst="rect">
            <a:avLst/>
          </a:prstGeom>
          <a:noFill/>
        </p:spPr>
        <p:txBody>
          <a:bodyPr wrap="square">
            <a:spAutoFit/>
          </a:bodyPr>
          <a:lstStyle/>
          <a:p>
            <a:pPr>
              <a:spcAft>
                <a:spcPts val="700"/>
              </a:spcAft>
            </a:pPr>
            <a:r>
              <a:rPr sz="1400">
                <a:solidFill>
                  <a:srgbClr val="212630"/>
                </a:solidFill>
              </a:rPr>
              <a:t>▪  </a:t>
            </a:r>
            <a:r>
              <a:rPr sz="1400" b="1">
                <a:solidFill>
                  <a:srgbClr val="212630"/>
                </a:solidFill>
                <a:latin typeface="Calibri"/>
              </a:rPr>
              <a:t>Block-sparse attention:</a:t>
            </a:r>
            <a:r>
              <a:rPr sz="1400" b="0">
                <a:solidFill>
                  <a:srgbClr val="212630"/>
                </a:solidFill>
                <a:latin typeface="Calibri"/>
              </a:rPr>
              <a:t> partition latents into (2, 8, 8) blocks of 128 tokens; average-pool each block → coarse block-to-block attention → keep </a:t>
            </a:r>
            <a:r>
              <a:rPr sz="1400" b="1">
                <a:solidFill>
                  <a:srgbClr val="212630"/>
                </a:solidFill>
                <a:latin typeface="Calibri"/>
              </a:rPr>
              <a:t>top-k</a:t>
            </a:r>
            <a:r>
              <a:rPr sz="1400" b="0">
                <a:solidFill>
                  <a:srgbClr val="212630"/>
                </a:solidFill>
                <a:latin typeface="Calibri"/>
              </a:rPr>
              <a:t> pairs → run dense 128×128 attention only there.</a:t>
            </a:r>
          </a:p>
          <a:p>
            <a:pPr lvl="1">
              <a:spcAft>
                <a:spcPts val="400"/>
              </a:spcAft>
            </a:pPr>
            <a:r>
              <a:rPr sz="1200">
                <a:solidFill>
                  <a:srgbClr val="59616E"/>
                </a:solidFill>
              </a:rPr>
              <a:t>–  </a:t>
            </a:r>
            <a:r>
              <a:rPr sz="1200" b="0">
                <a:solidFill>
                  <a:srgbClr val="59616E"/>
                </a:solidFill>
                <a:latin typeface="Calibri"/>
              </a:rPr>
              <a:t>~13.6% of dense cost; attention time per 8-frame step 1.105 s → 0.355 s (3.1×); PSNR −0.5 dB but MUSIQ *better*. Same mask in training and inference → consistent.</a:t>
            </a:r>
          </a:p>
          <a:p>
            <a:pPr>
              <a:spcAft>
                <a:spcPts val="700"/>
              </a:spcAft>
            </a:pPr>
            <a:r>
              <a:rPr sz="1400">
                <a:solidFill>
                  <a:srgbClr val="212630"/>
                </a:solidFill>
              </a:rPr>
              <a:t>▪  </a:t>
            </a:r>
            <a:r>
              <a:rPr sz="1400" b="1">
                <a:solidFill>
                  <a:srgbClr val="212630"/>
                </a:solidFill>
                <a:latin typeface="Calibri"/>
              </a:rPr>
              <a:t>Resolution-gap diagnosis:</a:t>
            </a:r>
            <a:r>
              <a:rPr sz="1400" b="0">
                <a:solidFill>
                  <a:srgbClr val="212630"/>
                </a:solidFill>
                <a:latin typeface="Calibri"/>
              </a:rPr>
              <a:t> RoPE is periodic — positions beyond the trained range make some dimensions repeat → repeated textures / blur at 1440p+.</a:t>
            </a:r>
          </a:p>
          <a:p>
            <a:pPr>
              <a:spcAft>
                <a:spcPts val="700"/>
              </a:spcAft>
            </a:pPr>
            <a:r>
              <a:rPr sz="1400">
                <a:solidFill>
                  <a:srgbClr val="212630"/>
                </a:solidFill>
              </a:rPr>
              <a:t>▪  </a:t>
            </a:r>
            <a:r>
              <a:rPr sz="1400" b="1">
                <a:solidFill>
                  <a:srgbClr val="212630"/>
                </a:solidFill>
                <a:latin typeface="Calibri"/>
              </a:rPr>
              <a:t>Fix — locality-constrained attention:</a:t>
            </a:r>
            <a:r>
              <a:rPr sz="1400" b="0">
                <a:solidFill>
                  <a:srgbClr val="212630"/>
                </a:solidFill>
                <a:latin typeface="Calibri"/>
              </a:rPr>
              <a:t> restrict each query to a local spatial window (ablation: 1152×1152 receptive field) so *relative* positions stay inside the trained range; final mask = local ∩ top-k.</a:t>
            </a:r>
          </a:p>
          <a:p>
            <a:pPr lvl="1">
              <a:spcAft>
                <a:spcPts val="400"/>
              </a:spcAft>
            </a:pPr>
            <a:r>
              <a:rPr sz="1200">
                <a:solidFill>
                  <a:srgbClr val="59616E"/>
                </a:solidFill>
              </a:rPr>
              <a:t>–  </a:t>
            </a:r>
            <a:r>
              <a:rPr sz="1200" b="0">
                <a:solidFill>
                  <a:srgbClr val="59616E"/>
                </a:solidFill>
                <a:latin typeface="Calibri"/>
              </a:rPr>
              <a:t>At 1536×2688 (305-frame videos): both window variants beat global attention on </a:t>
            </a:r>
            <a:r>
              <a:rPr sz="1200" b="1">
                <a:solidFill>
                  <a:srgbClr val="59616E"/>
                </a:solidFill>
                <a:latin typeface="Calibri"/>
              </a:rPr>
              <a:t>every</a:t>
            </a:r>
            <a:r>
              <a:rPr sz="1200" b="0">
                <a:solidFill>
                  <a:srgbClr val="59616E"/>
                </a:solidFill>
                <a:latin typeface="Calibri"/>
              </a:rPr>
              <a:t> metric — boundary-preserved best fidelity (PSNR 24.87 vs. 24.21), boundary-truncated best perceptual (MUSIQ 67.47 vs. global).</a:t>
            </a:r>
          </a:p>
        </p:txBody>
      </p:sp>
      <p:pic>
        <p:nvPicPr>
          <p:cNvPr id="4" name="Picture 3" descr="flash_fig3_local.png"/>
          <p:cNvPicPr>
            <a:picLocks noChangeAspect="1"/>
          </p:cNvPicPr>
          <p:nvPr/>
        </p:nvPicPr>
        <p:blipFill>
          <a:blip r:embed="rId2"/>
          <a:stretch>
            <a:fillRect/>
          </a:stretch>
        </p:blipFill>
        <p:spPr>
          <a:xfrm>
            <a:off x="640080" y="3611880"/>
            <a:ext cx="10881360" cy="2813278"/>
          </a:xfrm>
          <a:prstGeom prst="rect">
            <a:avLst/>
          </a:prstGeom>
        </p:spPr>
      </p:pic>
      <p:sp>
        <p:nvSpPr>
          <p:cNvPr id="5" name="TextBox 4"/>
          <p:cNvSpPr txBox="1"/>
          <p:nvPr/>
        </p:nvSpPr>
        <p:spPr>
          <a:xfrm>
            <a:off x="640080" y="6452590"/>
            <a:ext cx="10881360" cy="274320"/>
          </a:xfrm>
          <a:prstGeom prst="rect">
            <a:avLst/>
          </a:prstGeom>
          <a:noFill/>
        </p:spPr>
        <p:txBody>
          <a:bodyPr wrap="none">
            <a:spAutoFit/>
          </a:bodyPr>
          <a:lstStyle/>
          <a:p>
            <a:pPr algn="ctr"/>
            <a:r>
              <a:rPr sz="1000" b="0">
                <a:solidFill>
                  <a:srgbClr val="59616E"/>
                </a:solidFill>
                <a:latin typeface="Calibri"/>
              </a:rPr>
              <a:t>Fig. 3 — out-of-range RoPE causes repeated patterns (left); local attention windows restore training-range statistics (middle); the two mask variants (right)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C25A11"/>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411480"/>
          <a:lstStyle/>
          <a:p>
            <a:pPr algn="ctr"/>
            <a:r>
              <a:rPr sz="2600" b="1">
                <a:solidFill>
                  <a:srgbClr val="FFFFFF"/>
                </a:solidFill>
                <a:latin typeface="Calibri"/>
              </a:rPr>
              <a:t>FlashVSR — streaming KV-cache and the Tiny Conditional decoder</a:t>
            </a:r>
          </a:p>
        </p:txBody>
      </p:sp>
      <p:sp>
        <p:nvSpPr>
          <p:cNvPr id="3" name="TextBox 2"/>
          <p:cNvSpPr txBox="1"/>
          <p:nvPr/>
        </p:nvSpPr>
        <p:spPr>
          <a:xfrm>
            <a:off x="502920" y="1143000"/>
            <a:ext cx="7223760" cy="5394960"/>
          </a:xfrm>
          <a:prstGeom prst="rect">
            <a:avLst/>
          </a:prstGeom>
          <a:noFill/>
        </p:spPr>
        <p:txBody>
          <a:bodyPr wrap="square">
            <a:spAutoFit/>
          </a:bodyPr>
          <a:lstStyle/>
          <a:p>
            <a:pPr>
              <a:spcAft>
                <a:spcPts val="700"/>
              </a:spcAft>
            </a:pPr>
            <a:r>
              <a:rPr sz="1300">
                <a:solidFill>
                  <a:srgbClr val="212630"/>
                </a:solidFill>
              </a:rPr>
              <a:t>▪  </a:t>
            </a:r>
            <a:r>
              <a:rPr sz="1300" b="1">
                <a:solidFill>
                  <a:srgbClr val="212630"/>
                </a:solidFill>
                <a:latin typeface="Calibri"/>
              </a:rPr>
              <a:t>Streaming:</a:t>
            </a:r>
            <a:r>
              <a:rPr sz="1300" b="0">
                <a:solidFill>
                  <a:srgbClr val="212630"/>
                </a:solidFill>
                <a:latin typeface="Calibri"/>
              </a:rPr>
              <a:t> sliding-window KV-cache over the most recent ~85 frames, all layers; constant memory, 8-frame lookahead. No past predictions are fed back — history lives only in the cache.</a:t>
            </a:r>
          </a:p>
          <a:p>
            <a:pPr lvl="1">
              <a:spcAft>
                <a:spcPts val="400"/>
              </a:spcAft>
            </a:pPr>
            <a:r>
              <a:rPr sz="1100">
                <a:solidFill>
                  <a:srgbClr val="59616E"/>
                </a:solidFill>
              </a:rPr>
              <a:t>–  </a:t>
            </a:r>
            <a:r>
              <a:rPr sz="1100" b="0">
                <a:solidFill>
                  <a:srgbClr val="59616E"/>
                </a:solidFill>
                <a:latin typeface="Calibri"/>
              </a:rPr>
              <a:t>Their account of why this preserves consistency: early-layer KV carries LR-aligned structure/motion; late-layer KV carries progressively cleaner latents that stabilize texture.</a:t>
            </a:r>
          </a:p>
          <a:p>
            <a:pPr lvl="1">
              <a:spcAft>
                <a:spcPts val="400"/>
              </a:spcAft>
            </a:pPr>
            <a:r>
              <a:rPr sz="1100">
                <a:solidFill>
                  <a:srgbClr val="59616E"/>
                </a:solidFill>
              </a:rPr>
              <a:t>–  </a:t>
            </a:r>
            <a:r>
              <a:rPr sz="1100" b="0">
                <a:solidFill>
                  <a:srgbClr val="59616E"/>
                </a:solidFill>
                <a:latin typeface="Calibri"/>
              </a:rPr>
              <a:t>Eviction ablation: sliding window ≈ importance-based; </a:t>
            </a:r>
            <a:r>
              <a:rPr sz="1100" b="1">
                <a:solidFill>
                  <a:srgbClr val="59616E"/>
                </a:solidFill>
                <a:latin typeface="Calibri"/>
              </a:rPr>
              <a:t>head-wise eviction fails</a:t>
            </a:r>
            <a:r>
              <a:rPr sz="1100" b="0">
                <a:solidFill>
                  <a:srgbClr val="59616E"/>
                </a:solidFill>
                <a:latin typeface="Calibri"/>
              </a:rPr>
              <a:t> — attention-sink heads keep stale first-frame KVs → blur.</a:t>
            </a:r>
          </a:p>
          <a:p>
            <a:pPr>
              <a:spcAft>
                <a:spcPts val="700"/>
              </a:spcAft>
            </a:pPr>
            <a:r>
              <a:rPr sz="1300">
                <a:solidFill>
                  <a:srgbClr val="212630"/>
                </a:solidFill>
              </a:rPr>
              <a:t>▪  </a:t>
            </a:r>
            <a:r>
              <a:rPr sz="1300" b="1">
                <a:solidFill>
                  <a:srgbClr val="212630"/>
                </a:solidFill>
                <a:latin typeface="Calibri"/>
              </a:rPr>
              <a:t>Tiny Conditional decoder:</a:t>
            </a:r>
            <a:r>
              <a:rPr sz="1300" b="0">
                <a:solidFill>
                  <a:srgbClr val="212630"/>
                </a:solidFill>
                <a:latin typeface="Calibri"/>
              </a:rPr>
              <a:t> after one-step distillation the VAE decoder is ~70% of runtime.</a:t>
            </a:r>
          </a:p>
          <a:p>
            <a:pPr lvl="1">
              <a:spcAft>
                <a:spcPts val="400"/>
              </a:spcAft>
            </a:pPr>
            <a:r>
              <a:rPr sz="1100">
                <a:solidFill>
                  <a:srgbClr val="59616E"/>
                </a:solidFill>
              </a:rPr>
              <a:t>–  </a:t>
            </a:r>
            <a:r>
              <a:rPr sz="1100" b="0">
                <a:solidFill>
                  <a:srgbClr val="59616E"/>
                </a:solidFill>
                <a:latin typeface="Calibri"/>
              </a:rPr>
              <a:t>Replace it with a small decoder conditioned on </a:t>
            </a:r>
            <a:r>
              <a:rPr sz="1100" b="1">
                <a:solidFill>
                  <a:srgbClr val="59616E"/>
                </a:solidFill>
                <a:latin typeface="Calibri"/>
              </a:rPr>
              <a:t>latents + pixel-shuffled LR frames</a:t>
            </a:r>
            <a:r>
              <a:rPr sz="1100" b="0">
                <a:solidFill>
                  <a:srgbClr val="59616E"/>
                </a:solidFill>
                <a:latin typeface="Calibri"/>
              </a:rPr>
              <a:t> — LR supplies low-frequency structure, decoder only adds detail.</a:t>
            </a:r>
          </a:p>
          <a:p>
            <a:pPr lvl="1">
              <a:spcAft>
                <a:spcPts val="400"/>
              </a:spcAft>
            </a:pPr>
            <a:r>
              <a:rPr sz="1100">
                <a:solidFill>
                  <a:srgbClr val="59616E"/>
                </a:solidFill>
              </a:rPr>
              <a:t>–  </a:t>
            </a:r>
            <a:r>
              <a:rPr sz="1100" b="0">
                <a:solidFill>
                  <a:srgbClr val="59616E"/>
                </a:solidFill>
                <a:latin typeface="Calibri"/>
              </a:rPr>
              <a:t>Trained with pixel loss + distillation from the Wan decoder. </a:t>
            </a:r>
            <a:r>
              <a:rPr sz="1100" b="1">
                <a:solidFill>
                  <a:srgbClr val="59616E"/>
                </a:solidFill>
                <a:latin typeface="Calibri"/>
              </a:rPr>
              <a:t>~7× faster decode</a:t>
            </a:r>
            <a:r>
              <a:rPr sz="1100" b="0">
                <a:solidFill>
                  <a:srgbClr val="59616E"/>
                </a:solidFill>
                <a:latin typeface="Calibri"/>
              </a:rPr>
              <a:t> (11.13 s → 1.60 s per 101 frames); −1.5 dB reconstruction PSNR vs. Wan decoder, but beats an unconditional tiny decoder by +1.1 dB.</a:t>
            </a:r>
          </a:p>
        </p:txBody>
      </p:sp>
      <p:pic>
        <p:nvPicPr>
          <p:cNvPr id="4" name="Picture 3" descr="flash_fig4_tcdec.png"/>
          <p:cNvPicPr>
            <a:picLocks noChangeAspect="1"/>
          </p:cNvPicPr>
          <p:nvPr/>
        </p:nvPicPr>
        <p:blipFill>
          <a:blip r:embed="rId2"/>
          <a:stretch>
            <a:fillRect/>
          </a:stretch>
        </p:blipFill>
        <p:spPr>
          <a:xfrm>
            <a:off x="7909560" y="1463040"/>
            <a:ext cx="3962095" cy="1588894"/>
          </a:xfrm>
          <a:prstGeom prst="rect">
            <a:avLst/>
          </a:prstGeom>
        </p:spPr>
      </p:pic>
      <p:sp>
        <p:nvSpPr>
          <p:cNvPr id="5" name="TextBox 4"/>
          <p:cNvSpPr txBox="1"/>
          <p:nvPr/>
        </p:nvSpPr>
        <p:spPr>
          <a:xfrm>
            <a:off x="7909560" y="3079366"/>
            <a:ext cx="3962095" cy="274320"/>
          </a:xfrm>
          <a:prstGeom prst="rect">
            <a:avLst/>
          </a:prstGeom>
          <a:noFill/>
        </p:spPr>
        <p:txBody>
          <a:bodyPr wrap="none">
            <a:spAutoFit/>
          </a:bodyPr>
          <a:lstStyle/>
          <a:p>
            <a:pPr algn="ctr"/>
            <a:r>
              <a:rPr sz="1000" b="0">
                <a:solidFill>
                  <a:srgbClr val="59616E"/>
                </a:solidFill>
                <a:latin typeface="Calibri"/>
              </a:rPr>
              <a:t>Fig. 4 — TC decoder training: supervised by GT pixels and the Wan decoder output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C25A11"/>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411480"/>
          <a:lstStyle/>
          <a:p>
            <a:pPr algn="ctr"/>
            <a:r>
              <a:rPr sz="2600" b="1">
                <a:solidFill>
                  <a:srgbClr val="FFFFFF"/>
                </a:solidFill>
                <a:latin typeface="Calibri"/>
              </a:rPr>
              <a:t>FlashVSR — results</a:t>
            </a:r>
          </a:p>
        </p:txBody>
      </p:sp>
      <p:sp>
        <p:nvSpPr>
          <p:cNvPr id="3" name="TextBox 2"/>
          <p:cNvSpPr txBox="1"/>
          <p:nvPr/>
        </p:nvSpPr>
        <p:spPr>
          <a:xfrm>
            <a:off x="502920" y="1143000"/>
            <a:ext cx="5852160" cy="5394960"/>
          </a:xfrm>
          <a:prstGeom prst="rect">
            <a:avLst/>
          </a:prstGeom>
          <a:noFill/>
        </p:spPr>
        <p:txBody>
          <a:bodyPr wrap="square">
            <a:spAutoFit/>
          </a:bodyPr>
          <a:lstStyle/>
          <a:p>
            <a:pPr>
              <a:spcAft>
                <a:spcPts val="700"/>
              </a:spcAft>
            </a:pPr>
            <a:r>
              <a:rPr sz="1300">
                <a:solidFill>
                  <a:srgbClr val="212630"/>
                </a:solidFill>
              </a:rPr>
              <a:t>▪  </a:t>
            </a:r>
            <a:r>
              <a:rPr sz="1300" b="1">
                <a:solidFill>
                  <a:srgbClr val="212630"/>
                </a:solidFill>
                <a:latin typeface="Calibri"/>
              </a:rPr>
              <a:t>Efficiency (101 frames @ 768×1408, A100):</a:t>
            </a:r>
            <a:r>
              <a:rPr sz="1300" b="0">
                <a:solidFill>
                  <a:srgbClr val="212630"/>
                </a:solidFill>
                <a:latin typeface="Calibri"/>
              </a:rPr>
              <a:t> Ours-Tiny </a:t>
            </a:r>
            <a:r>
              <a:rPr sz="1300" b="1">
                <a:solidFill>
                  <a:srgbClr val="212630"/>
                </a:solidFill>
                <a:latin typeface="Calibri"/>
              </a:rPr>
              <a:t>5.97 s (16.9 FPS), 11.1 GB</a:t>
            </a:r>
            <a:r>
              <a:rPr sz="1300" b="0">
                <a:solidFill>
                  <a:srgbClr val="212630"/>
                </a:solidFill>
                <a:latin typeface="Calibri"/>
              </a:rPr>
              <a:t> vs. SeedVR2-3B 70.6 s / 52.9 GB → 11.8× faster, ~4.8× less memory; 136× vs. Upscale-A-Video; 1.78 B params.</a:t>
            </a:r>
          </a:p>
          <a:p>
            <a:pPr>
              <a:spcAft>
                <a:spcPts val="700"/>
              </a:spcAft>
            </a:pPr>
            <a:r>
              <a:rPr sz="1300">
                <a:solidFill>
                  <a:srgbClr val="212630"/>
                </a:solidFill>
              </a:rPr>
              <a:t>▪  </a:t>
            </a:r>
            <a:r>
              <a:rPr sz="1300" b="1">
                <a:solidFill>
                  <a:srgbClr val="212630"/>
                </a:solidFill>
                <a:latin typeface="Calibri"/>
              </a:rPr>
              <a:t>Quality:</a:t>
            </a:r>
            <a:r>
              <a:rPr sz="1300" b="0">
                <a:solidFill>
                  <a:srgbClr val="212630"/>
                </a:solidFill>
                <a:latin typeface="Calibri"/>
              </a:rPr>
              <a:t> wins nearly all no-reference/perceptual metrics (NIQE, MUSIQ, CLIP-IQA, DOVER) across YouHQ40 / REDS / SPMCS / VideoLQ / AIGC30; PSNR/SSIM competitive, not best.</a:t>
            </a:r>
          </a:p>
          <a:p>
            <a:pPr lvl="1">
              <a:spcAft>
                <a:spcPts val="400"/>
              </a:spcAft>
            </a:pPr>
            <a:r>
              <a:rPr sz="1100">
                <a:solidFill>
                  <a:srgbClr val="59616E"/>
                </a:solidFill>
              </a:rPr>
              <a:t>–  </a:t>
            </a:r>
            <a:r>
              <a:rPr sz="1100" b="0">
                <a:solidFill>
                  <a:srgbClr val="59616E"/>
                </a:solidFill>
                <a:latin typeface="Calibri"/>
              </a:rPr>
              <a:t>Caveat they flag: RealViformer's REDS numbers are inflated (REDS is in its training set).</a:t>
            </a:r>
          </a:p>
          <a:p>
            <a:pPr>
              <a:spcAft>
                <a:spcPts val="700"/>
              </a:spcAft>
            </a:pPr>
            <a:r>
              <a:rPr sz="1300">
                <a:solidFill>
                  <a:srgbClr val="212630"/>
                </a:solidFill>
              </a:rPr>
              <a:t>▪  </a:t>
            </a:r>
            <a:r>
              <a:rPr sz="1300" b="1">
                <a:solidFill>
                  <a:srgbClr val="212630"/>
                </a:solidFill>
                <a:latin typeface="Calibri"/>
              </a:rPr>
              <a:t>User study</a:t>
            </a:r>
            <a:r>
              <a:rPr sz="1300" b="0">
                <a:solidFill>
                  <a:srgbClr val="212630"/>
                </a:solidFill>
                <a:latin typeface="Calibri"/>
              </a:rPr>
              <a:t> (20 CV researchers, GSB vs. Ours-Tiny): SeedVR2-3B −33%, DOVE −30%; Ours-Full ≈ Ours-Tiny (+2%).</a:t>
            </a:r>
          </a:p>
          <a:p>
            <a:pPr>
              <a:spcAft>
                <a:spcPts val="700"/>
              </a:spcAft>
            </a:pPr>
            <a:r>
              <a:rPr sz="1300">
                <a:solidFill>
                  <a:srgbClr val="212630"/>
                </a:solidFill>
              </a:rPr>
              <a:t>▪  </a:t>
            </a:r>
            <a:r>
              <a:rPr sz="1300" b="1">
                <a:solidFill>
                  <a:srgbClr val="212630"/>
                </a:solidFill>
                <a:latin typeface="Calibri"/>
              </a:rPr>
              <a:t>Ablations:</a:t>
            </a:r>
            <a:r>
              <a:rPr sz="1300" b="0">
                <a:solidFill>
                  <a:srgbClr val="212630"/>
                </a:solidFill>
                <a:latin typeface="Calibri"/>
              </a:rPr>
              <a:t> sparsity costs 0.5 dB PSNR, nothing perceptually; locality windows beat global at 1536×2688 on all metrics; TC decoder −1.5 dB reconstruction for 7× decode speed.</a:t>
            </a:r>
          </a:p>
        </p:txBody>
      </p:sp>
      <p:pic>
        <p:nvPicPr>
          <p:cNvPr id="4" name="Picture 3" descr="flash_tab12.png"/>
          <p:cNvPicPr>
            <a:picLocks noChangeAspect="1"/>
          </p:cNvPicPr>
          <p:nvPr/>
        </p:nvPicPr>
        <p:blipFill>
          <a:blip r:embed="rId2"/>
          <a:stretch>
            <a:fillRect/>
          </a:stretch>
        </p:blipFill>
        <p:spPr>
          <a:xfrm>
            <a:off x="6537960" y="1463040"/>
            <a:ext cx="5333695" cy="4713154"/>
          </a:xfrm>
          <a:prstGeom prst="rect">
            <a:avLst/>
          </a:prstGeom>
        </p:spPr>
      </p:pic>
      <p:sp>
        <p:nvSpPr>
          <p:cNvPr id="5" name="TextBox 4"/>
          <p:cNvSpPr txBox="1"/>
          <p:nvPr/>
        </p:nvSpPr>
        <p:spPr>
          <a:xfrm>
            <a:off x="6537960" y="6203626"/>
            <a:ext cx="5333695" cy="274320"/>
          </a:xfrm>
          <a:prstGeom prst="rect">
            <a:avLst/>
          </a:prstGeom>
          <a:noFill/>
        </p:spPr>
        <p:txBody>
          <a:bodyPr wrap="none">
            <a:spAutoFit/>
          </a:bodyPr>
          <a:lstStyle/>
          <a:p>
            <a:pPr algn="ctr"/>
            <a:r>
              <a:rPr sz="1000" b="0">
                <a:solidFill>
                  <a:srgbClr val="59616E"/>
                </a:solidFill>
                <a:latin typeface="Calibri"/>
              </a:rPr>
              <a:t>Tables 1–2 — quality across 5 benchmarks; efficiency at 768×1408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2B3345"/>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411480"/>
          <a:lstStyle/>
          <a:p>
            <a:pPr algn="ctr"/>
            <a:r>
              <a:rPr sz="2600" b="1">
                <a:solidFill>
                  <a:srgbClr val="FFFFFF"/>
                </a:solidFill>
                <a:latin typeface="Calibri"/>
              </a:rPr>
              <a:t>Head-to-head</a:t>
            </a:r>
          </a:p>
        </p:txBody>
      </p:sp>
      <p:graphicFrame>
        <p:nvGraphicFramePr>
          <p:cNvPr id="3" name="Table 2"/>
          <p:cNvGraphicFramePr>
            <a:graphicFrameLocks noGrp="1"/>
          </p:cNvGraphicFramePr>
          <p:nvPr/>
        </p:nvGraphicFramePr>
        <p:xfrm>
          <a:off x="320040" y="1097280"/>
          <a:ext cx="11567160" cy="5394960"/>
        </p:xfrm>
        <a:graphic>
          <a:graphicData uri="http://schemas.openxmlformats.org/drawingml/2006/table">
            <a:tbl>
              <a:tblPr firstRow="1" bandRow="1">
                <a:tableStyleId>{5C22544A-7EE6-4342-B048-85BDC9FD1C3A}</a:tableStyleId>
              </a:tblPr>
              <a:tblGrid>
                <a:gridCol w="1920240"/>
                <a:gridCol w="4617720"/>
                <a:gridCol w="5029200"/>
              </a:tblGrid>
              <a:tr h="490450">
                <a:tc>
                  <a:txBody>
                    <a:bodyPr wrap="square"/>
                    <a:lstStyle/>
                    <a:p>
                      <a:r>
                        <a:rPr sz="1300" b="1">
                          <a:solidFill>
                            <a:srgbClr val="FFFFFF"/>
                          </a:solidFill>
                          <a:latin typeface="Calibri"/>
                        </a:rPr>
                        <a:t/>
                      </a:r>
                    </a:p>
                  </a:txBody>
                  <a:tcPr marL="73152" marR="73152" marT="18288" marB="18288">
                    <a:solidFill>
                      <a:srgbClr val="2B3345"/>
                    </a:solidFill>
                  </a:tcPr>
                </a:tc>
                <a:tc>
                  <a:txBody>
                    <a:bodyPr wrap="square"/>
                    <a:lstStyle/>
                    <a:p>
                      <a:r>
                        <a:rPr sz="1300" b="1">
                          <a:solidFill>
                            <a:srgbClr val="FFFFFF"/>
                          </a:solidFill>
                          <a:latin typeface="Calibri"/>
                        </a:rPr>
                        <a:t>SeedVR2 (3B / 7B)</a:t>
                      </a:r>
                    </a:p>
                  </a:txBody>
                  <a:tcPr marL="73152" marR="73152" marT="18288" marB="18288">
                    <a:solidFill>
                      <a:srgbClr val="0E6E6E"/>
                    </a:solidFill>
                  </a:tcPr>
                </a:tc>
                <a:tc>
                  <a:txBody>
                    <a:bodyPr wrap="square"/>
                    <a:lstStyle/>
                    <a:p>
                      <a:r>
                        <a:rPr sz="1300" b="1">
                          <a:solidFill>
                            <a:srgbClr val="FFFFFF"/>
                          </a:solidFill>
                          <a:latin typeface="Calibri"/>
                        </a:rPr>
                        <a:t>FlashVSR (1.3B base)</a:t>
                      </a:r>
                    </a:p>
                  </a:txBody>
                  <a:tcPr marL="73152" marR="73152" marT="18288" marB="18288">
                    <a:solidFill>
                      <a:srgbClr val="C25A11"/>
                    </a:solidFill>
                  </a:tcPr>
                </a:tc>
              </a:tr>
              <a:tr h="490450">
                <a:tc>
                  <a:txBody>
                    <a:bodyPr wrap="square"/>
                    <a:lstStyle/>
                    <a:p>
                      <a:r>
                        <a:rPr sz="1150" b="1">
                          <a:solidFill>
                            <a:srgbClr val="212630"/>
                          </a:solidFill>
                          <a:latin typeface="Calibri"/>
                        </a:rPr>
                        <a:t>Goal</a:t>
                      </a:r>
                    </a:p>
                  </a:txBody>
                  <a:tcPr marL="73152" marR="73152" marT="18288" marB="18288">
                    <a:solidFill>
                      <a:srgbClr val="F2F4F7"/>
                    </a:solidFill>
                  </a:tcPr>
                </a:tc>
                <a:tc>
                  <a:txBody>
                    <a:bodyPr wrap="square"/>
                    <a:lstStyle/>
                    <a:p>
                      <a:r>
                        <a:rPr sz="1150">
                          <a:solidFill>
                            <a:srgbClr val="212630"/>
                          </a:solidFill>
                          <a:latin typeface="Calibri"/>
                        </a:rPr>
                        <a:t>Max quality at 1 step</a:t>
                      </a:r>
                    </a:p>
                  </a:txBody>
                  <a:tcPr marL="73152" marR="73152" marT="18288" marB="18288">
                    <a:solidFill>
                      <a:srgbClr val="F2F4F7"/>
                    </a:solidFill>
                  </a:tcPr>
                </a:tc>
                <a:tc>
                  <a:txBody>
                    <a:bodyPr wrap="square"/>
                    <a:lstStyle/>
                    <a:p>
                      <a:r>
                        <a:rPr sz="1150">
                          <a:solidFill>
                            <a:srgbClr val="212630"/>
                          </a:solidFill>
                          <a:latin typeface="Calibri"/>
                        </a:rPr>
                        <a:t>Real-time streaming at 1 step</a:t>
                      </a:r>
                    </a:p>
                  </a:txBody>
                  <a:tcPr marL="73152" marR="73152" marT="18288" marB="18288">
                    <a:solidFill>
                      <a:srgbClr val="F2F4F7"/>
                    </a:solidFill>
                  </a:tcPr>
                </a:tc>
              </a:tr>
              <a:tr h="490450">
                <a:tc>
                  <a:txBody>
                    <a:bodyPr wrap="square"/>
                    <a:lstStyle/>
                    <a:p>
                      <a:r>
                        <a:rPr sz="1150" b="1">
                          <a:solidFill>
                            <a:srgbClr val="212630"/>
                          </a:solidFill>
                          <a:latin typeface="Calibri"/>
                        </a:rPr>
                        <a:t>Backbone</a:t>
                      </a:r>
                    </a:p>
                  </a:txBody>
                  <a:tcPr marL="73152" marR="73152" marT="18288" marB="18288">
                    <a:solidFill>
                      <a:srgbClr val="FFFFFF"/>
                    </a:solidFill>
                  </a:tcPr>
                </a:tc>
                <a:tc>
                  <a:txBody>
                    <a:bodyPr wrap="square"/>
                    <a:lstStyle/>
                    <a:p>
                      <a:r>
                        <a:rPr sz="1150">
                          <a:solidFill>
                            <a:srgbClr val="212630"/>
                          </a:solidFill>
                          <a:latin typeface="Calibri"/>
                        </a:rPr>
                        <a:t>Swin-MMDiT (36 blocks), full finetune</a:t>
                      </a:r>
                    </a:p>
                  </a:txBody>
                  <a:tcPr marL="73152" marR="73152" marT="18288" marB="18288">
                    <a:solidFill>
                      <a:srgbClr val="FFFFFF"/>
                    </a:solidFill>
                  </a:tcPr>
                </a:tc>
                <a:tc>
                  <a:txBody>
                    <a:bodyPr wrap="square"/>
                    <a:lstStyle/>
                    <a:p>
                      <a:r>
                        <a:rPr sz="1150">
                          <a:solidFill>
                            <a:srgbClr val="212630"/>
                          </a:solidFill>
                          <a:latin typeface="Calibri"/>
                        </a:rPr>
                        <a:t>Wan 2.1–1.3B + LoRA r384, causal</a:t>
                      </a:r>
                    </a:p>
                  </a:txBody>
                  <a:tcPr marL="73152" marR="73152" marT="18288" marB="18288">
                    <a:solidFill>
                      <a:srgbClr val="FFFFFF"/>
                    </a:solidFill>
                  </a:tcPr>
                </a:tc>
              </a:tr>
              <a:tr h="490450">
                <a:tc>
                  <a:txBody>
                    <a:bodyPr wrap="square"/>
                    <a:lstStyle/>
                    <a:p>
                      <a:r>
                        <a:rPr sz="1150" b="1">
                          <a:solidFill>
                            <a:srgbClr val="212630"/>
                          </a:solidFill>
                          <a:latin typeface="Calibri"/>
                        </a:rPr>
                        <a:t>One-step recipe</a:t>
                      </a:r>
                    </a:p>
                  </a:txBody>
                  <a:tcPr marL="73152" marR="73152" marT="18288" marB="18288">
                    <a:solidFill>
                      <a:srgbClr val="F2F4F7"/>
                    </a:solidFill>
                  </a:tcPr>
                </a:tc>
                <a:tc>
                  <a:txBody>
                    <a:bodyPr wrap="square"/>
                    <a:lstStyle/>
                    <a:p>
                      <a:r>
                        <a:rPr sz="1150">
                          <a:solidFill>
                            <a:srgbClr val="212630"/>
                          </a:solidFill>
                          <a:latin typeface="Calibri"/>
                        </a:rPr>
                        <a:t>Progressive distillation 64→1, then adversarial post-training vs. real data (RpGAN + aR1/aR2 + feature matching)</a:t>
                      </a:r>
                    </a:p>
                  </a:txBody>
                  <a:tcPr marL="73152" marR="73152" marT="18288" marB="18288">
                    <a:solidFill>
                      <a:srgbClr val="F2F4F7"/>
                    </a:solidFill>
                  </a:tcPr>
                </a:tc>
                <a:tc>
                  <a:txBody>
                    <a:bodyPr wrap="square"/>
                    <a:lstStyle/>
                    <a:p>
                      <a:r>
                        <a:rPr sz="1150">
                          <a:solidFill>
                            <a:srgbClr val="212630"/>
                          </a:solidFill>
                          <a:latin typeface="Calibri"/>
                        </a:rPr>
                        <a:t>3-stage: FM teacher → sparse-causal adaptation → DMD + MSE + LPIPS</a:t>
                      </a:r>
                    </a:p>
                  </a:txBody>
                  <a:tcPr marL="73152" marR="73152" marT="18288" marB="18288">
                    <a:solidFill>
                      <a:srgbClr val="F2F4F7"/>
                    </a:solidFill>
                  </a:tcPr>
                </a:tc>
              </a:tr>
              <a:tr h="490450">
                <a:tc>
                  <a:txBody>
                    <a:bodyPr wrap="square"/>
                    <a:lstStyle/>
                    <a:p>
                      <a:r>
                        <a:rPr sz="1150" b="1">
                          <a:solidFill>
                            <a:srgbClr val="212630"/>
                          </a:solidFill>
                          <a:latin typeface="Calibri"/>
                        </a:rPr>
                        <a:t>Teacher ceiling?</a:t>
                      </a:r>
                    </a:p>
                  </a:txBody>
                  <a:tcPr marL="73152" marR="73152" marT="18288" marB="18288">
                    <a:solidFill>
                      <a:srgbClr val="FFFFFF"/>
                    </a:solidFill>
                  </a:tcPr>
                </a:tc>
                <a:tc>
                  <a:txBody>
                    <a:bodyPr wrap="square"/>
                    <a:lstStyle/>
                    <a:p>
                      <a:r>
                        <a:rPr sz="1150">
                          <a:solidFill>
                            <a:srgbClr val="212630"/>
                          </a:solidFill>
                          <a:latin typeface="Calibri"/>
                        </a:rPr>
                        <a:t>No frozen teacher — can surpass init</a:t>
                      </a:r>
                    </a:p>
                  </a:txBody>
                  <a:tcPr marL="73152" marR="73152" marT="18288" marB="18288">
                    <a:solidFill>
                      <a:srgbClr val="FFFFFF"/>
                    </a:solidFill>
                  </a:tcPr>
                </a:tc>
                <a:tc>
                  <a:txBody>
                    <a:bodyPr wrap="square"/>
                    <a:lstStyle/>
                    <a:p>
                      <a:r>
                        <a:rPr sz="1150">
                          <a:solidFill>
                            <a:srgbClr val="212630"/>
                          </a:solidFill>
                          <a:latin typeface="Calibri"/>
                        </a:rPr>
                        <a:t>Frozen Stage-1 teacher (own model)</a:t>
                      </a:r>
                    </a:p>
                  </a:txBody>
                  <a:tcPr marL="73152" marR="73152" marT="18288" marB="18288">
                    <a:solidFill>
                      <a:srgbClr val="FFFFFF"/>
                    </a:solidFill>
                  </a:tcPr>
                </a:tc>
              </a:tr>
              <a:tr h="490450">
                <a:tc>
                  <a:txBody>
                    <a:bodyPr wrap="square"/>
                    <a:lstStyle/>
                    <a:p>
                      <a:r>
                        <a:rPr sz="1150" b="1">
                          <a:solidFill>
                            <a:srgbClr val="212630"/>
                          </a:solidFill>
                          <a:latin typeface="Calibri"/>
                        </a:rPr>
                        <a:t>Attention</a:t>
                      </a:r>
                    </a:p>
                  </a:txBody>
                  <a:tcPr marL="73152" marR="73152" marT="18288" marB="18288">
                    <a:solidFill>
                      <a:srgbClr val="F2F4F7"/>
                    </a:solidFill>
                  </a:tcPr>
                </a:tc>
                <a:tc>
                  <a:txBody>
                    <a:bodyPr wrap="square"/>
                    <a:lstStyle/>
                    <a:p>
                      <a:r>
                        <a:rPr sz="1150">
                          <a:solidFill>
                            <a:srgbClr val="212630"/>
                          </a:solidFill>
                          <a:latin typeface="Calibri"/>
                        </a:rPr>
                        <a:t>Adaptive 3×3 windows; ≤30-frame temporal window</a:t>
                      </a:r>
                    </a:p>
                  </a:txBody>
                  <a:tcPr marL="73152" marR="73152" marT="18288" marB="18288">
                    <a:solidFill>
                      <a:srgbClr val="F2F4F7"/>
                    </a:solidFill>
                  </a:tcPr>
                </a:tc>
                <a:tc>
                  <a:txBody>
                    <a:bodyPr wrap="square"/>
                    <a:lstStyle/>
                    <a:p>
                      <a:r>
                        <a:rPr sz="1150">
                          <a:solidFill>
                            <a:srgbClr val="212630"/>
                          </a:solidFill>
                          <a:latin typeface="Calibri"/>
                        </a:rPr>
                        <a:t>Block-sparse top-k (13.6%) ∩ local window; causal + KV-cache (~85 frames)</a:t>
                      </a:r>
                    </a:p>
                  </a:txBody>
                  <a:tcPr marL="73152" marR="73152" marT="18288" marB="18288">
                    <a:solidFill>
                      <a:srgbClr val="F2F4F7"/>
                    </a:solidFill>
                  </a:tcPr>
                </a:tc>
              </a:tr>
              <a:tr h="490450">
                <a:tc>
                  <a:txBody>
                    <a:bodyPr wrap="square"/>
                    <a:lstStyle/>
                    <a:p>
                      <a:r>
                        <a:rPr sz="1150" b="1">
                          <a:solidFill>
                            <a:srgbClr val="212630"/>
                          </a:solidFill>
                          <a:latin typeface="Calibri"/>
                        </a:rPr>
                        <a:t>Resolution scaling</a:t>
                      </a:r>
                    </a:p>
                  </a:txBody>
                  <a:tcPr marL="73152" marR="73152" marT="18288" marB="18288">
                    <a:solidFill>
                      <a:srgbClr val="FFFFFF"/>
                    </a:solidFill>
                  </a:tcPr>
                </a:tc>
                <a:tc>
                  <a:txBody>
                    <a:bodyPr wrap="square"/>
                    <a:lstStyle/>
                    <a:p>
                      <a:r>
                        <a:rPr sz="1150">
                          <a:solidFill>
                            <a:srgbClr val="212630"/>
                          </a:solidFill>
                          <a:latin typeface="Calibri"/>
                        </a:rPr>
                        <a:t>Window-size statistics matched to training</a:t>
                      </a:r>
                    </a:p>
                  </a:txBody>
                  <a:tcPr marL="73152" marR="73152" marT="18288" marB="18288">
                    <a:solidFill>
                      <a:srgbClr val="FFFFFF"/>
                    </a:solidFill>
                  </a:tcPr>
                </a:tc>
                <a:tc>
                  <a:txBody>
                    <a:bodyPr wrap="square"/>
                    <a:lstStyle/>
                    <a:p>
                      <a:r>
                        <a:rPr sz="1150">
                          <a:solidFill>
                            <a:srgbClr val="212630"/>
                          </a:solidFill>
                          <a:latin typeface="Calibri"/>
                        </a:rPr>
                        <a:t>Relative RoPE range kept in training range</a:t>
                      </a:r>
                    </a:p>
                  </a:txBody>
                  <a:tcPr marL="73152" marR="73152" marT="18288" marB="18288">
                    <a:solidFill>
                      <a:srgbClr val="FFFFFF"/>
                    </a:solidFill>
                  </a:tcPr>
                </a:tc>
              </a:tr>
              <a:tr h="490450">
                <a:tc>
                  <a:txBody>
                    <a:bodyPr wrap="square"/>
                    <a:lstStyle/>
                    <a:p>
                      <a:r>
                        <a:rPr sz="1150" b="1">
                          <a:solidFill>
                            <a:srgbClr val="212630"/>
                          </a:solidFill>
                          <a:latin typeface="Calibri"/>
                        </a:rPr>
                        <a:t>Inference mode</a:t>
                      </a:r>
                    </a:p>
                  </a:txBody>
                  <a:tcPr marL="73152" marR="73152" marT="18288" marB="18288">
                    <a:solidFill>
                      <a:srgbClr val="F2F4F7"/>
                    </a:solidFill>
                  </a:tcPr>
                </a:tc>
                <a:tc>
                  <a:txBody>
                    <a:bodyPr wrap="square"/>
                    <a:lstStyle/>
                    <a:p>
                      <a:r>
                        <a:rPr sz="1150">
                          <a:solidFill>
                            <a:srgbClr val="212630"/>
                          </a:solidFill>
                          <a:latin typeface="Calibri"/>
                        </a:rPr>
                        <a:t>Offline, chunked</a:t>
                      </a:r>
                    </a:p>
                  </a:txBody>
                  <a:tcPr marL="73152" marR="73152" marT="18288" marB="18288">
                    <a:solidFill>
                      <a:srgbClr val="F2F4F7"/>
                    </a:solidFill>
                  </a:tcPr>
                </a:tc>
                <a:tc>
                  <a:txBody>
                    <a:bodyPr wrap="square"/>
                    <a:lstStyle/>
                    <a:p>
                      <a:r>
                        <a:rPr sz="1150">
                          <a:solidFill>
                            <a:srgbClr val="212630"/>
                          </a:solidFill>
                          <a:latin typeface="Calibri"/>
                        </a:rPr>
                        <a:t>Streaming, 8-frame lookahead, constant memory</a:t>
                      </a:r>
                    </a:p>
                  </a:txBody>
                  <a:tcPr marL="73152" marR="73152" marT="18288" marB="18288">
                    <a:solidFill>
                      <a:srgbClr val="F2F4F7"/>
                    </a:solidFill>
                  </a:tcPr>
                </a:tc>
              </a:tr>
              <a:tr h="490450">
                <a:tc>
                  <a:txBody>
                    <a:bodyPr wrap="square"/>
                    <a:lstStyle/>
                    <a:p>
                      <a:r>
                        <a:rPr sz="1150" b="1">
                          <a:solidFill>
                            <a:srgbClr val="212630"/>
                          </a:solidFill>
                          <a:latin typeface="Calibri"/>
                        </a:rPr>
                        <a:t>101 fr @ 768×1408</a:t>
                      </a:r>
                    </a:p>
                  </a:txBody>
                  <a:tcPr marL="73152" marR="73152" marT="18288" marB="18288">
                    <a:solidFill>
                      <a:srgbClr val="FFFFFF"/>
                    </a:solidFill>
                  </a:tcPr>
                </a:tc>
                <a:tc>
                  <a:txBody>
                    <a:bodyPr wrap="square"/>
                    <a:lstStyle/>
                    <a:p>
                      <a:r>
                        <a:rPr sz="1150">
                          <a:solidFill>
                            <a:srgbClr val="212630"/>
                          </a:solidFill>
                          <a:latin typeface="Calibri"/>
                        </a:rPr>
                        <a:t>≈70 s, 52.9 GB (3B)</a:t>
                      </a:r>
                    </a:p>
                  </a:txBody>
                  <a:tcPr marL="73152" marR="73152" marT="18288" marB="18288">
                    <a:solidFill>
                      <a:srgbClr val="FFFFFF"/>
                    </a:solidFill>
                  </a:tcPr>
                </a:tc>
                <a:tc>
                  <a:txBody>
                    <a:bodyPr wrap="square"/>
                    <a:lstStyle/>
                    <a:p>
                      <a:r>
                        <a:rPr sz="1150">
                          <a:solidFill>
                            <a:srgbClr val="212630"/>
                          </a:solidFill>
                          <a:latin typeface="Calibri"/>
                        </a:rPr>
                        <a:t>5.97 s, 11.1 GB (Tiny) — 11.8× faster</a:t>
                      </a:r>
                    </a:p>
                  </a:txBody>
                  <a:tcPr marL="73152" marR="73152" marT="18288" marB="18288">
                    <a:solidFill>
                      <a:srgbClr val="FFFFFF"/>
                    </a:solidFill>
                  </a:tcPr>
                </a:tc>
              </a:tr>
              <a:tr h="490450">
                <a:tc>
                  <a:txBody>
                    <a:bodyPr wrap="square"/>
                    <a:lstStyle/>
                    <a:p>
                      <a:r>
                        <a:rPr sz="1150" b="1">
                          <a:solidFill>
                            <a:srgbClr val="212630"/>
                          </a:solidFill>
                          <a:latin typeface="Calibri"/>
                        </a:rPr>
                        <a:t>Decoder</a:t>
                      </a:r>
                    </a:p>
                  </a:txBody>
                  <a:tcPr marL="73152" marR="73152" marT="18288" marB="18288">
                    <a:solidFill>
                      <a:srgbClr val="F2F4F7"/>
                    </a:solidFill>
                  </a:tcPr>
                </a:tc>
                <a:tc>
                  <a:txBody>
                    <a:bodyPr wrap="square"/>
                    <a:lstStyle/>
                    <a:p>
                      <a:r>
                        <a:rPr sz="1150">
                          <a:solidFill>
                            <a:srgbClr val="212630"/>
                          </a:solidFill>
                          <a:latin typeface="Calibri"/>
                        </a:rPr>
                        <a:t>Causal video VAE (&gt;95% of runtime)</a:t>
                      </a:r>
                    </a:p>
                  </a:txBody>
                  <a:tcPr marL="73152" marR="73152" marT="18288" marB="18288">
                    <a:solidFill>
                      <a:srgbClr val="F2F4F7"/>
                    </a:solidFill>
                  </a:tcPr>
                </a:tc>
                <a:tc>
                  <a:txBody>
                    <a:bodyPr wrap="square"/>
                    <a:lstStyle/>
                    <a:p>
                      <a:r>
                        <a:rPr sz="1150">
                          <a:solidFill>
                            <a:srgbClr val="212630"/>
                          </a:solidFill>
                          <a:latin typeface="Calibri"/>
                        </a:rPr>
                        <a:t>Tiny Conditional decoder (7× faster decode)</a:t>
                      </a:r>
                    </a:p>
                  </a:txBody>
                  <a:tcPr marL="73152" marR="73152" marT="18288" marB="18288">
                    <a:solidFill>
                      <a:srgbClr val="F2F4F7"/>
                    </a:solidFill>
                  </a:tcPr>
                </a:tc>
              </a:tr>
              <a:tr h="490460">
                <a:tc>
                  <a:txBody>
                    <a:bodyPr wrap="square"/>
                    <a:lstStyle/>
                    <a:p>
                      <a:r>
                        <a:rPr sz="1150" b="1">
                          <a:solidFill>
                            <a:srgbClr val="212630"/>
                          </a:solidFill>
                          <a:latin typeface="Calibri"/>
                        </a:rPr>
                        <a:t>Quality profile</a:t>
                      </a:r>
                    </a:p>
                  </a:txBody>
                  <a:tcPr marL="73152" marR="73152" marT="18288" marB="18288">
                    <a:solidFill>
                      <a:srgbClr val="FFFFFF"/>
                    </a:solidFill>
                  </a:tcPr>
                </a:tc>
                <a:tc>
                  <a:txBody>
                    <a:bodyPr wrap="square"/>
                    <a:lstStyle/>
                    <a:p>
                      <a:r>
                        <a:rPr sz="1150">
                          <a:solidFill>
                            <a:srgbClr val="212630"/>
                          </a:solidFill>
                          <a:latin typeface="Calibri"/>
                        </a:rPr>
                        <a:t>Best detail/texture; wins user study vs. everything multi-step</a:t>
                      </a:r>
                    </a:p>
                  </a:txBody>
                  <a:tcPr marL="73152" marR="73152" marT="18288" marB="18288">
                    <a:solidFill>
                      <a:srgbClr val="FFFFFF"/>
                    </a:solidFill>
                  </a:tcPr>
                </a:tc>
                <a:tc>
                  <a:txBody>
                    <a:bodyPr wrap="square"/>
                    <a:lstStyle/>
                    <a:p>
                      <a:r>
                        <a:rPr sz="1150">
                          <a:solidFill>
                            <a:srgbClr val="212630"/>
                          </a:solidFill>
                          <a:latin typeface="Calibri"/>
                        </a:rPr>
                        <a:t>Wins NR metrics + user study vs. SeedVR2-3B; PSNR/SSIM mid-pack</a:t>
                      </a:r>
                    </a:p>
                  </a:txBody>
                  <a:tcPr marL="73152" marR="73152" marT="18288" marB="18288">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2B3345"/>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411480"/>
          <a:lstStyle/>
          <a:p>
            <a:pPr algn="ctr"/>
            <a:r>
              <a:rPr sz="2600" b="1">
                <a:solidFill>
                  <a:srgbClr val="FFFFFF"/>
                </a:solidFill>
                <a:latin typeface="Calibri"/>
              </a:rPr>
              <a:t>What this means for long-video SR (&gt;1 min)</a:t>
            </a:r>
          </a:p>
        </p:txBody>
      </p:sp>
      <p:sp>
        <p:nvSpPr>
          <p:cNvPr id="3" name="TextBox 2"/>
          <p:cNvSpPr txBox="1"/>
          <p:nvPr/>
        </p:nvSpPr>
        <p:spPr>
          <a:xfrm>
            <a:off x="502920" y="1143000"/>
            <a:ext cx="11247120" cy="5394960"/>
          </a:xfrm>
          <a:prstGeom prst="rect">
            <a:avLst/>
          </a:prstGeom>
          <a:noFill/>
        </p:spPr>
        <p:txBody>
          <a:bodyPr wrap="square">
            <a:spAutoFit/>
          </a:bodyPr>
          <a:lstStyle/>
          <a:p>
            <a:pPr>
              <a:spcAft>
                <a:spcPts val="700"/>
              </a:spcAft>
            </a:pPr>
            <a:r>
              <a:rPr sz="1300">
                <a:solidFill>
                  <a:srgbClr val="212630"/>
                </a:solidFill>
              </a:rPr>
              <a:t>▪  </a:t>
            </a:r>
            <a:r>
              <a:rPr sz="1300" b="1">
                <a:solidFill>
                  <a:srgbClr val="212630"/>
                </a:solidFill>
                <a:latin typeface="Calibri"/>
              </a:rPr>
              <a:t>Streaming beats chunking for long videos:</a:t>
            </a:r>
            <a:r>
              <a:rPr sz="1300" b="0">
                <a:solidFill>
                  <a:srgbClr val="212630"/>
                </a:solidFill>
                <a:latin typeface="Calibri"/>
              </a:rPr>
              <a:t> FlashVSR's KV-cache gives constant memory and no chunk seams — but the longest evaluated sequences average ~305 frames (~12 s). Behavior over thousands of frames is untested; head-wise eviction already fails from attention sinks.</a:t>
            </a:r>
          </a:p>
          <a:p>
            <a:pPr>
              <a:spcAft>
                <a:spcPts val="700"/>
              </a:spcAft>
            </a:pPr>
            <a:r>
              <a:rPr sz="1300">
                <a:solidFill>
                  <a:srgbClr val="212630"/>
                </a:solidFill>
              </a:rPr>
              <a:t>▪  </a:t>
            </a:r>
            <a:r>
              <a:rPr sz="1300" b="1">
                <a:solidFill>
                  <a:srgbClr val="212630"/>
                </a:solidFill>
                <a:latin typeface="Calibri"/>
              </a:rPr>
              <a:t>Positional encoding is the recurring failure point:</a:t>
            </a:r>
            <a:r>
              <a:rPr sz="1300" b="0">
                <a:solidFill>
                  <a:srgbClr val="212630"/>
                </a:solidFill>
                <a:latin typeface="Calibri"/>
              </a:rPr>
              <a:t> both papers fix *spatial* RoPE/window mismatch by keeping inference statistics inside the training range. The *temporal* analogue — extending beyond the trained temporal window — is untouched (SeedVR2 caps at 30 latent frames; FlashVSR's cache is 85 frames). This is exactly where our RoPE probe / position-interpolation work on FlashVSR operates.</a:t>
            </a:r>
          </a:p>
          <a:p>
            <a:pPr>
              <a:spcAft>
                <a:spcPts val="700"/>
              </a:spcAft>
            </a:pPr>
            <a:r>
              <a:rPr sz="1300">
                <a:solidFill>
                  <a:srgbClr val="212630"/>
                </a:solidFill>
              </a:rPr>
              <a:t>▪  </a:t>
            </a:r>
            <a:r>
              <a:rPr sz="1300" b="1">
                <a:solidFill>
                  <a:srgbClr val="212630"/>
                </a:solidFill>
                <a:latin typeface="Calibri"/>
              </a:rPr>
              <a:t>After one-step distillation, the VAE/decoder is the wall:</a:t>
            </a:r>
            <a:r>
              <a:rPr sz="1300" b="0">
                <a:solidFill>
                  <a:srgbClr val="212630"/>
                </a:solidFill>
                <a:latin typeface="Calibri"/>
              </a:rPr>
              <a:t> &gt;95% of SeedVR2's runtime; ~70% of FlashVSR's before the TC decoder. Any long-video system needs a cheap (causal) decoder.</a:t>
            </a:r>
          </a:p>
          <a:p>
            <a:pPr>
              <a:spcAft>
                <a:spcPts val="700"/>
              </a:spcAft>
            </a:pPr>
            <a:r>
              <a:rPr sz="1300">
                <a:solidFill>
                  <a:srgbClr val="212630"/>
                </a:solidFill>
              </a:rPr>
              <a:t>▪  </a:t>
            </a:r>
            <a:r>
              <a:rPr sz="1300" b="1">
                <a:solidFill>
                  <a:srgbClr val="212630"/>
                </a:solidFill>
                <a:latin typeface="Calibri"/>
              </a:rPr>
              <a:t>Temporal-memory design space is open:</a:t>
            </a:r>
            <a:r>
              <a:rPr sz="1300" b="0">
                <a:solidFill>
                  <a:srgbClr val="212630"/>
                </a:solidFill>
                <a:latin typeface="Calibri"/>
              </a:rPr>
              <a:t> sliding KV-cache is the only working option shown; smarter eviction failed → constant-state alternatives (SSM-style, à la Po et al. long-context world models) are a natural next step for minute-scale consistency.</a:t>
            </a:r>
          </a:p>
          <a:p>
            <a:pPr>
              <a:spcAft>
                <a:spcPts val="700"/>
              </a:spcAft>
            </a:pPr>
            <a:r>
              <a:rPr sz="1300">
                <a:solidFill>
                  <a:srgbClr val="212630"/>
                </a:solidFill>
              </a:rPr>
              <a:t>▪  </a:t>
            </a:r>
            <a:r>
              <a:rPr sz="1300" b="1">
                <a:solidFill>
                  <a:srgbClr val="212630"/>
                </a:solidFill>
                <a:latin typeface="Calibri"/>
              </a:rPr>
              <a:t>Evaluation caution:</a:t>
            </a:r>
            <a:r>
              <a:rPr sz="1300" b="0">
                <a:solidFill>
                  <a:srgbClr val="212630"/>
                </a:solidFill>
                <a:latin typeface="Calibri"/>
              </a:rPr>
              <a:t> warping error rewards blur (bicubic wins it); both papers lean on DOVER/VMAF/user studies. Long-video eval likely needs consistency metrics over much longer horizons.</a:t>
            </a:r>
          </a:p>
          <a:p>
            <a:pPr>
              <a:spcAft>
                <a:spcPts val="700"/>
              </a:spcAft>
            </a:pPr>
            <a:r>
              <a:rPr sz="1300">
                <a:solidFill>
                  <a:srgbClr val="212630"/>
                </a:solidFill>
              </a:rPr>
              <a:t>▪  </a:t>
            </a:r>
            <a:r>
              <a:rPr sz="1300" b="1">
                <a:solidFill>
                  <a:srgbClr val="212630"/>
                </a:solidFill>
                <a:latin typeface="Calibri"/>
              </a:rPr>
              <a:t>Discussion:</a:t>
            </a:r>
            <a:r>
              <a:rPr sz="1300" b="0">
                <a:solidFill>
                  <a:srgbClr val="212630"/>
                </a:solidFill>
                <a:latin typeface="Calibri"/>
              </a:rPr>
              <a:t> when does the 'LR carries the motion' assumption break — heavy degradation, large motion, generative hallucination drift over minutes?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